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2107C-E3C3-4C9D-9112-11CDBEBBC7D8}" v="15" dt="2025-11-21T18:35:32.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3814" autoAdjust="0"/>
    <p:restoredTop sz="94660"/>
  </p:normalViewPr>
  <p:slideViewPr>
    <p:cSldViewPr snapToGrid="0">
      <p:cViewPr varScale="1">
        <p:scale>
          <a:sx n="106" d="100"/>
          <a:sy n="106" d="100"/>
        </p:scale>
        <p:origin x="15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11/21/2025</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982663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11/21/2025</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851646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11/21/2025</a:t>
            </a:fld>
            <a:endParaRPr lang="en-US" dirty="0"/>
          </a:p>
        </p:txBody>
      </p:sp>
    </p:spTree>
    <p:extLst>
      <p:ext uri="{BB962C8B-B14F-4D97-AF65-F5344CB8AC3E}">
        <p14:creationId xmlns:p14="http://schemas.microsoft.com/office/powerpoint/2010/main" val="3187022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11/21/2025</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509693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11/21/2025</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4882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11/21/2025</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1249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11/21/2025</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591908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11/21/2025</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82055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11/21/2025</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175174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11/21/2025</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694577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11/21/2025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315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11/21/2025</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19298"/>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01" r:id="rId5"/>
    <p:sldLayoutId id="2147483706" r:id="rId6"/>
    <p:sldLayoutId id="2147483702" r:id="rId7"/>
    <p:sldLayoutId id="2147483703" r:id="rId8"/>
    <p:sldLayoutId id="2147483704" r:id="rId9"/>
    <p:sldLayoutId id="2147483705" r:id="rId10"/>
    <p:sldLayoutId id="2147483707"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hyperlink" Target="https://youtu.be/2eQNJYsmzCc"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7" name="Picture 16">
            <a:extLst>
              <a:ext uri="{FF2B5EF4-FFF2-40B4-BE49-F238E27FC236}">
                <a16:creationId xmlns:a16="http://schemas.microsoft.com/office/drawing/2014/main" id="{CCB71DC9-E10F-F111-5D7E-84A7065B99BE}"/>
              </a:ext>
            </a:extLst>
          </p:cNvPr>
          <p:cNvPicPr>
            <a:picLocks noChangeAspect="1"/>
          </p:cNvPicPr>
          <p:nvPr/>
        </p:nvPicPr>
        <p:blipFill>
          <a:blip r:embed="rId2"/>
          <a:srcRect l="38948"/>
          <a:stretch>
            <a:fillRect/>
          </a:stretch>
        </p:blipFill>
        <p:spPr>
          <a:xfrm>
            <a:off x="4487333" y="10"/>
            <a:ext cx="7704667" cy="6877868"/>
          </a:xfrm>
          <a:custGeom>
            <a:avLst/>
            <a:gdLst/>
            <a:ahLst/>
            <a:cxnLst/>
            <a:rect l="l" t="t" r="r" b="b"/>
            <a:pathLst>
              <a:path w="7704667" h="6877878">
                <a:moveTo>
                  <a:pt x="0" y="0"/>
                </a:moveTo>
                <a:lnTo>
                  <a:pt x="7704667" y="0"/>
                </a:lnTo>
                <a:lnTo>
                  <a:pt x="7704667" y="6877878"/>
                </a:lnTo>
                <a:lnTo>
                  <a:pt x="0" y="6877878"/>
                </a:lnTo>
                <a:lnTo>
                  <a:pt x="0" y="6867939"/>
                </a:lnTo>
                <a:lnTo>
                  <a:pt x="146217" y="6867939"/>
                </a:lnTo>
                <a:lnTo>
                  <a:pt x="252811" y="6795007"/>
                </a:lnTo>
                <a:cubicBezTo>
                  <a:pt x="428996" y="6667346"/>
                  <a:pt x="601946" y="6529451"/>
                  <a:pt x="776494" y="6388681"/>
                </a:cubicBezTo>
                <a:cubicBezTo>
                  <a:pt x="1734992" y="5615677"/>
                  <a:pt x="2676361" y="4981124"/>
                  <a:pt x="2676361" y="3631852"/>
                </a:cubicBezTo>
                <a:cubicBezTo>
                  <a:pt x="2676361" y="2101350"/>
                  <a:pt x="2094814" y="761014"/>
                  <a:pt x="1053668" y="20384"/>
                </a:cubicBezTo>
                <a:lnTo>
                  <a:pt x="1038069" y="9939"/>
                </a:lnTo>
                <a:lnTo>
                  <a:pt x="0" y="9939"/>
                </a:lnTo>
                <a:close/>
              </a:path>
            </a:pathLst>
          </a:custGeom>
        </p:spPr>
      </p:pic>
      <p:sp>
        <p:nvSpPr>
          <p:cNvPr id="18" name="Freeform: Shape 17">
            <a:extLst>
              <a:ext uri="{FF2B5EF4-FFF2-40B4-BE49-F238E27FC236}">
                <a16:creationId xmlns:a16="http://schemas.microsoft.com/office/drawing/2014/main" id="{DCD36D47-40B7-494B-B249-3CBA333DE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5746" cy="6858000"/>
          </a:xfrm>
          <a:custGeom>
            <a:avLst/>
            <a:gdLst>
              <a:gd name="connsiteX0" fmla="*/ 0 w 7475746"/>
              <a:gd name="connsiteY0" fmla="*/ 0 h 6858000"/>
              <a:gd name="connsiteX1" fmla="*/ 5859459 w 7475746"/>
              <a:gd name="connsiteY1" fmla="*/ 0 h 6858000"/>
              <a:gd name="connsiteX2" fmla="*/ 5874848 w 7475746"/>
              <a:gd name="connsiteY2" fmla="*/ 10445 h 6858000"/>
              <a:gd name="connsiteX3" fmla="*/ 7475746 w 7475746"/>
              <a:gd name="connsiteY3" fmla="*/ 3621913 h 6858000"/>
              <a:gd name="connsiteX4" fmla="*/ 5601397 w 7475746"/>
              <a:gd name="connsiteY4" fmla="*/ 6378742 h 6858000"/>
              <a:gd name="connsiteX5" fmla="*/ 5084748 w 7475746"/>
              <a:gd name="connsiteY5" fmla="*/ 6785068 h 6858000"/>
              <a:gd name="connsiteX6" fmla="*/ 4979585 w 7475746"/>
              <a:gd name="connsiteY6" fmla="*/ 6858000 h 6858000"/>
              <a:gd name="connsiteX7" fmla="*/ 0 w 74757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5746" h="685800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9" name="Freeform: Shape 18">
            <a:extLst>
              <a:ext uri="{FF2B5EF4-FFF2-40B4-BE49-F238E27FC236}">
                <a16:creationId xmlns:a16="http://schemas.microsoft.com/office/drawing/2014/main" id="{03AD0D1C-F8BA-4CD1-BC4D-BE1823F3E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7283242" cy="6858000"/>
          </a:xfrm>
          <a:custGeom>
            <a:avLst/>
            <a:gdLst>
              <a:gd name="connsiteX0" fmla="*/ 0 w 7163694"/>
              <a:gd name="connsiteY0" fmla="*/ 0 h 6858000"/>
              <a:gd name="connsiteX1" fmla="*/ 5525402 w 7163694"/>
              <a:gd name="connsiteY1" fmla="*/ 0 h 6858000"/>
              <a:gd name="connsiteX2" fmla="*/ 5541001 w 7163694"/>
              <a:gd name="connsiteY2" fmla="*/ 10445 h 6858000"/>
              <a:gd name="connsiteX3" fmla="*/ 7163694 w 7163694"/>
              <a:gd name="connsiteY3" fmla="*/ 3621913 h 6858000"/>
              <a:gd name="connsiteX4" fmla="*/ 5263827 w 7163694"/>
              <a:gd name="connsiteY4" fmla="*/ 6378742 h 6858000"/>
              <a:gd name="connsiteX5" fmla="*/ 4740144 w 7163694"/>
              <a:gd name="connsiteY5" fmla="*/ 6785068 h 6858000"/>
              <a:gd name="connsiteX6" fmla="*/ 4633550 w 7163694"/>
              <a:gd name="connsiteY6" fmla="*/ 6858000 h 6858000"/>
              <a:gd name="connsiteX7" fmla="*/ 0 w 7163694"/>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63694" h="6858000">
                <a:moveTo>
                  <a:pt x="0" y="0"/>
                </a:moveTo>
                <a:lnTo>
                  <a:pt x="5525402" y="0"/>
                </a:lnTo>
                <a:lnTo>
                  <a:pt x="5541001" y="10445"/>
                </a:lnTo>
                <a:cubicBezTo>
                  <a:pt x="6582147" y="751075"/>
                  <a:pt x="7163694" y="2091411"/>
                  <a:pt x="7163694" y="3621913"/>
                </a:cubicBezTo>
                <a:cubicBezTo>
                  <a:pt x="7163694" y="4971185"/>
                  <a:pt x="6222325" y="5605738"/>
                  <a:pt x="5263827" y="6378742"/>
                </a:cubicBezTo>
                <a:cubicBezTo>
                  <a:pt x="5089279" y="6519512"/>
                  <a:pt x="4916329" y="6657407"/>
                  <a:pt x="4740144" y="6785068"/>
                </a:cubicBezTo>
                <a:lnTo>
                  <a:pt x="4633550"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FBA7E51E-7B6A-4A79-8F84-47C845C7A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9836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24AEFB77-DE99-760E-04A0-5B8D4C0BBB47}"/>
              </a:ext>
            </a:extLst>
          </p:cNvPr>
          <p:cNvSpPr>
            <a:spLocks noGrp="1"/>
          </p:cNvSpPr>
          <p:nvPr>
            <p:ph type="ctrTitle"/>
          </p:nvPr>
        </p:nvSpPr>
        <p:spPr>
          <a:xfrm>
            <a:off x="1180531" y="1346268"/>
            <a:ext cx="5274860" cy="3066706"/>
          </a:xfrm>
        </p:spPr>
        <p:txBody>
          <a:bodyPr anchor="b">
            <a:normAutofit/>
          </a:bodyPr>
          <a:lstStyle/>
          <a:p>
            <a:pPr>
              <a:lnSpc>
                <a:spcPct val="110000"/>
              </a:lnSpc>
            </a:pPr>
            <a:r>
              <a:rPr lang="en-ZA" sz="5100"/>
              <a:t>Programming 2B Portfolio of Evidence</a:t>
            </a:r>
          </a:p>
        </p:txBody>
      </p:sp>
      <p:sp>
        <p:nvSpPr>
          <p:cNvPr id="3" name="Subtitle 2">
            <a:extLst>
              <a:ext uri="{FF2B5EF4-FFF2-40B4-BE49-F238E27FC236}">
                <a16:creationId xmlns:a16="http://schemas.microsoft.com/office/drawing/2014/main" id="{00658600-263E-4ADD-894B-E40B6B91553D}"/>
              </a:ext>
            </a:extLst>
          </p:cNvPr>
          <p:cNvSpPr>
            <a:spLocks noGrp="1"/>
          </p:cNvSpPr>
          <p:nvPr>
            <p:ph type="subTitle" idx="1"/>
          </p:nvPr>
        </p:nvSpPr>
        <p:spPr>
          <a:xfrm>
            <a:off x="1201212" y="4412974"/>
            <a:ext cx="4162357" cy="1576188"/>
          </a:xfrm>
        </p:spPr>
        <p:txBody>
          <a:bodyPr anchor="t">
            <a:normAutofit/>
          </a:bodyPr>
          <a:lstStyle/>
          <a:p>
            <a:r>
              <a:rPr lang="en-ZA" dirty="0"/>
              <a:t>By Liam Swile (ST10438679)</a:t>
            </a:r>
          </a:p>
        </p:txBody>
      </p:sp>
    </p:spTree>
    <p:extLst>
      <p:ext uri="{BB962C8B-B14F-4D97-AF65-F5344CB8AC3E}">
        <p14:creationId xmlns:p14="http://schemas.microsoft.com/office/powerpoint/2010/main" val="1086568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954AB742-44A6-4CDD-B54A-818846AF8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61" name="Group 60">
            <a:extLst>
              <a:ext uri="{FF2B5EF4-FFF2-40B4-BE49-F238E27FC236}">
                <a16:creationId xmlns:a16="http://schemas.microsoft.com/office/drawing/2014/main" id="{BEB537CF-9F5E-463A-AD3C-13736406C1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3499" y="319598"/>
            <a:ext cx="3110997" cy="3301428"/>
            <a:chOff x="5443499" y="319598"/>
            <a:chExt cx="3110997" cy="3301428"/>
          </a:xfrm>
        </p:grpSpPr>
        <p:sp>
          <p:nvSpPr>
            <p:cNvPr id="70" name="Freeform: Shape 69">
              <a:extLst>
                <a:ext uri="{FF2B5EF4-FFF2-40B4-BE49-F238E27FC236}">
                  <a16:creationId xmlns:a16="http://schemas.microsoft.com/office/drawing/2014/main" id="{6F703EF8-1E43-4439-8CB5-179C7C75A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3499" y="319598"/>
              <a:ext cx="3110997" cy="3301428"/>
            </a:xfrm>
            <a:custGeom>
              <a:avLst/>
              <a:gdLst>
                <a:gd name="connsiteX0" fmla="*/ 1431069 w 3110997"/>
                <a:gd name="connsiteY0" fmla="*/ 1514 h 3301428"/>
                <a:gd name="connsiteX1" fmla="*/ 1946520 w 3110997"/>
                <a:gd name="connsiteY1" fmla="*/ 42088 h 3301428"/>
                <a:gd name="connsiteX2" fmla="*/ 2402721 w 3110997"/>
                <a:gd name="connsiteY2" fmla="*/ 303594 h 3301428"/>
                <a:gd name="connsiteX3" fmla="*/ 2762423 w 3110997"/>
                <a:gd name="connsiteY3" fmla="*/ 889436 h 3301428"/>
                <a:gd name="connsiteX4" fmla="*/ 2828518 w 3110997"/>
                <a:gd name="connsiteY4" fmla="*/ 1015773 h 3301428"/>
                <a:gd name="connsiteX5" fmla="*/ 3094962 w 3110997"/>
                <a:gd name="connsiteY5" fmla="*/ 2001284 h 3301428"/>
                <a:gd name="connsiteX6" fmla="*/ 2157067 w 3110997"/>
                <a:gd name="connsiteY6" fmla="*/ 3054444 h 3301428"/>
                <a:gd name="connsiteX7" fmla="*/ 1950853 w 3110997"/>
                <a:gd name="connsiteY7" fmla="*/ 3146478 h 3301428"/>
                <a:gd name="connsiteX8" fmla="*/ 1329246 w 3110997"/>
                <a:gd name="connsiteY8" fmla="*/ 3288753 h 3301428"/>
                <a:gd name="connsiteX9" fmla="*/ 740145 w 3110997"/>
                <a:gd name="connsiteY9" fmla="*/ 3019378 h 3301428"/>
                <a:gd name="connsiteX10" fmla="*/ 288773 w 3110997"/>
                <a:gd name="connsiteY10" fmla="*/ 2499557 h 3301428"/>
                <a:gd name="connsiteX11" fmla="*/ 35659 w 3110997"/>
                <a:gd name="connsiteY11" fmla="*/ 1823964 h 3301428"/>
                <a:gd name="connsiteX12" fmla="*/ 31208 w 3110997"/>
                <a:gd name="connsiteY12" fmla="*/ 1116817 h 3301428"/>
                <a:gd name="connsiteX13" fmla="*/ 266830 w 3110997"/>
                <a:gd name="connsiteY13" fmla="*/ 556451 h 3301428"/>
                <a:gd name="connsiteX14" fmla="*/ 683944 w 3110997"/>
                <a:gd name="connsiteY14" fmla="*/ 194390 h 3301428"/>
                <a:gd name="connsiteX15" fmla="*/ 1431069 w 3110997"/>
                <a:gd name="connsiteY15" fmla="*/ 1514 h 330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10997" h="3301428">
                  <a:moveTo>
                    <a:pt x="1431069" y="1514"/>
                  </a:moveTo>
                  <a:cubicBezTo>
                    <a:pt x="1596908" y="-4789"/>
                    <a:pt x="1770176" y="8561"/>
                    <a:pt x="1946520" y="42088"/>
                  </a:cubicBezTo>
                  <a:cubicBezTo>
                    <a:pt x="2134136" y="77759"/>
                    <a:pt x="2274818" y="158432"/>
                    <a:pt x="2402721" y="303594"/>
                  </a:cubicBezTo>
                  <a:cubicBezTo>
                    <a:pt x="2536515" y="455435"/>
                    <a:pt x="2646258" y="666231"/>
                    <a:pt x="2762423" y="889436"/>
                  </a:cubicBezTo>
                  <a:cubicBezTo>
                    <a:pt x="2783822" y="930610"/>
                    <a:pt x="2805992" y="973158"/>
                    <a:pt x="2828518" y="1015773"/>
                  </a:cubicBezTo>
                  <a:cubicBezTo>
                    <a:pt x="3030101" y="1397216"/>
                    <a:pt x="3157590" y="1671880"/>
                    <a:pt x="3094962" y="2001284"/>
                  </a:cubicBezTo>
                  <a:cubicBezTo>
                    <a:pt x="2999536" y="2503193"/>
                    <a:pt x="2719052" y="2818175"/>
                    <a:pt x="2157067" y="3054444"/>
                  </a:cubicBezTo>
                  <a:cubicBezTo>
                    <a:pt x="2083511" y="3085361"/>
                    <a:pt x="2016053" y="3116427"/>
                    <a:pt x="1950853" y="3146478"/>
                  </a:cubicBezTo>
                  <a:cubicBezTo>
                    <a:pt x="1680527" y="3271008"/>
                    <a:pt x="1541221" y="3329055"/>
                    <a:pt x="1329246" y="3288753"/>
                  </a:cubicBezTo>
                  <a:cubicBezTo>
                    <a:pt x="1118766" y="3248736"/>
                    <a:pt x="920572" y="3158068"/>
                    <a:pt x="740145" y="3019378"/>
                  </a:cubicBezTo>
                  <a:cubicBezTo>
                    <a:pt x="563651" y="2883673"/>
                    <a:pt x="411737" y="2708752"/>
                    <a:pt x="288773" y="2499557"/>
                  </a:cubicBezTo>
                  <a:cubicBezTo>
                    <a:pt x="167863" y="2293930"/>
                    <a:pt x="80312" y="2060356"/>
                    <a:pt x="35659" y="1823964"/>
                  </a:cubicBezTo>
                  <a:cubicBezTo>
                    <a:pt x="-10360" y="1581177"/>
                    <a:pt x="-11829" y="1343178"/>
                    <a:pt x="31208" y="1116817"/>
                  </a:cubicBezTo>
                  <a:cubicBezTo>
                    <a:pt x="71795" y="903345"/>
                    <a:pt x="151102" y="714850"/>
                    <a:pt x="266830" y="556451"/>
                  </a:cubicBezTo>
                  <a:cubicBezTo>
                    <a:pt x="375349" y="408016"/>
                    <a:pt x="515707" y="286208"/>
                    <a:pt x="683944" y="194390"/>
                  </a:cubicBezTo>
                  <a:cubicBezTo>
                    <a:pt x="898912" y="77121"/>
                    <a:pt x="1154672" y="12021"/>
                    <a:pt x="1431069" y="1514"/>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3" name="Freeform: Shape 62">
              <a:extLst>
                <a:ext uri="{FF2B5EF4-FFF2-40B4-BE49-F238E27FC236}">
                  <a16:creationId xmlns:a16="http://schemas.microsoft.com/office/drawing/2014/main" id="{9DFB2FC3-C3AA-44DA-A135-10AFA65B8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75604" y="443150"/>
              <a:ext cx="2805016" cy="3049345"/>
            </a:xfrm>
            <a:custGeom>
              <a:avLst/>
              <a:gdLst>
                <a:gd name="connsiteX0" fmla="*/ 1448892 w 2805016"/>
                <a:gd name="connsiteY0" fmla="*/ 1295 h 3049345"/>
                <a:gd name="connsiteX1" fmla="*/ 1762036 w 2805016"/>
                <a:gd name="connsiteY1" fmla="*/ 37054 h 3049345"/>
                <a:gd name="connsiteX2" fmla="*/ 2172496 w 2805016"/>
                <a:gd name="connsiteY2" fmla="*/ 276646 h 3049345"/>
                <a:gd name="connsiteX3" fmla="*/ 2494528 w 2805016"/>
                <a:gd name="connsiteY3" fmla="*/ 816190 h 3049345"/>
                <a:gd name="connsiteX4" fmla="*/ 2553622 w 2805016"/>
                <a:gd name="connsiteY4" fmla="*/ 932591 h 3049345"/>
                <a:gd name="connsiteX5" fmla="*/ 2789833 w 2805016"/>
                <a:gd name="connsiteY5" fmla="*/ 1841650 h 3049345"/>
                <a:gd name="connsiteX6" fmla="*/ 1939259 w 2805016"/>
                <a:gd name="connsiteY6" fmla="*/ 2818274 h 3049345"/>
                <a:gd name="connsiteX7" fmla="*/ 1752834 w 2805016"/>
                <a:gd name="connsiteY7" fmla="*/ 2904144 h 3049345"/>
                <a:gd name="connsiteX8" fmla="*/ 1191447 w 2805016"/>
                <a:gd name="connsiteY8" fmla="*/ 3038170 h 3049345"/>
                <a:gd name="connsiteX9" fmla="*/ 661126 w 2805016"/>
                <a:gd name="connsiteY9" fmla="*/ 2791872 h 3049345"/>
                <a:gd name="connsiteX10" fmla="*/ 256115 w 2805016"/>
                <a:gd name="connsiteY10" fmla="*/ 2313690 h 3049345"/>
                <a:gd name="connsiteX11" fmla="*/ 30620 w 2805016"/>
                <a:gd name="connsiteY11" fmla="*/ 1690804 h 3049345"/>
                <a:gd name="connsiteX12" fmla="*/ 29591 w 2805016"/>
                <a:gd name="connsiteY12" fmla="*/ 1037726 h 3049345"/>
                <a:gd name="connsiteX13" fmla="*/ 244525 w 2805016"/>
                <a:gd name="connsiteY13" fmla="*/ 519197 h 3049345"/>
                <a:gd name="connsiteX14" fmla="*/ 622356 w 2805016"/>
                <a:gd name="connsiteY14" fmla="*/ 183048 h 3049345"/>
                <a:gd name="connsiteX15" fmla="*/ 1448892 w 2805016"/>
                <a:gd name="connsiteY15" fmla="*/ 1295 h 304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5016" h="3049345">
                  <a:moveTo>
                    <a:pt x="1448892" y="1295"/>
                  </a:moveTo>
                  <a:cubicBezTo>
                    <a:pt x="1551302" y="5038"/>
                    <a:pt x="1656071" y="16908"/>
                    <a:pt x="1762036" y="37054"/>
                  </a:cubicBezTo>
                  <a:cubicBezTo>
                    <a:pt x="1931145" y="69206"/>
                    <a:pt x="2057720" y="143119"/>
                    <a:pt x="2172496" y="276646"/>
                  </a:cubicBezTo>
                  <a:cubicBezTo>
                    <a:pt x="2292557" y="416316"/>
                    <a:pt x="2390672" y="610536"/>
                    <a:pt x="2494528" y="816190"/>
                  </a:cubicBezTo>
                  <a:cubicBezTo>
                    <a:pt x="2513659" y="854126"/>
                    <a:pt x="2533480" y="893328"/>
                    <a:pt x="2553622" y="932591"/>
                  </a:cubicBezTo>
                  <a:cubicBezTo>
                    <a:pt x="2733870" y="1284027"/>
                    <a:pt x="2847724" y="1537159"/>
                    <a:pt x="2789833" y="1841650"/>
                  </a:cubicBezTo>
                  <a:cubicBezTo>
                    <a:pt x="2701624" y="2305599"/>
                    <a:pt x="2447254" y="2597690"/>
                    <a:pt x="1939259" y="2818274"/>
                  </a:cubicBezTo>
                  <a:cubicBezTo>
                    <a:pt x="1872770" y="2847138"/>
                    <a:pt x="1811781" y="2876114"/>
                    <a:pt x="1752834" y="2904144"/>
                  </a:cubicBezTo>
                  <a:cubicBezTo>
                    <a:pt x="1508432" y="3020297"/>
                    <a:pt x="1382512" y="3074496"/>
                    <a:pt x="1191447" y="3038170"/>
                  </a:cubicBezTo>
                  <a:cubicBezTo>
                    <a:pt x="1001732" y="3002100"/>
                    <a:pt x="823313" y="2919199"/>
                    <a:pt x="661126" y="2791872"/>
                  </a:cubicBezTo>
                  <a:cubicBezTo>
                    <a:pt x="502474" y="2667286"/>
                    <a:pt x="366163" y="2506376"/>
                    <a:pt x="256115" y="2313690"/>
                  </a:cubicBezTo>
                  <a:cubicBezTo>
                    <a:pt x="147904" y="2124290"/>
                    <a:pt x="69906" y="1908939"/>
                    <a:pt x="30620" y="1690804"/>
                  </a:cubicBezTo>
                  <a:cubicBezTo>
                    <a:pt x="-9871" y="1466769"/>
                    <a:pt x="-10191" y="1246967"/>
                    <a:pt x="29591" y="1037726"/>
                  </a:cubicBezTo>
                  <a:cubicBezTo>
                    <a:pt x="67109" y="840400"/>
                    <a:pt x="139452" y="665977"/>
                    <a:pt x="244525" y="519197"/>
                  </a:cubicBezTo>
                  <a:cubicBezTo>
                    <a:pt x="343054" y="381648"/>
                    <a:pt x="470192" y="268558"/>
                    <a:pt x="622356" y="183048"/>
                  </a:cubicBezTo>
                  <a:cubicBezTo>
                    <a:pt x="855671" y="51991"/>
                    <a:pt x="1141662" y="-9932"/>
                    <a:pt x="1448892" y="12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75" name="Freeform: Shape 74">
              <a:extLst>
                <a:ext uri="{FF2B5EF4-FFF2-40B4-BE49-F238E27FC236}">
                  <a16:creationId xmlns:a16="http://schemas.microsoft.com/office/drawing/2014/main" id="{DC9006AC-14D0-4A9C-BE11-F61AB5B8D8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93466" y="623454"/>
              <a:ext cx="2567901" cy="2687367"/>
            </a:xfrm>
            <a:custGeom>
              <a:avLst/>
              <a:gdLst>
                <a:gd name="connsiteX0" fmla="*/ 1177679 w 2567901"/>
                <a:gd name="connsiteY0" fmla="*/ 1063 h 2687367"/>
                <a:gd name="connsiteX1" fmla="*/ 1603094 w 2567901"/>
                <a:gd name="connsiteY1" fmla="*/ 35223 h 2687367"/>
                <a:gd name="connsiteX2" fmla="*/ 1980105 w 2567901"/>
                <a:gd name="connsiteY2" fmla="*/ 249099 h 2687367"/>
                <a:gd name="connsiteX3" fmla="*/ 2278200 w 2567901"/>
                <a:gd name="connsiteY3" fmla="*/ 726784 h 2687367"/>
                <a:gd name="connsiteX4" fmla="*/ 2333016 w 2567901"/>
                <a:gd name="connsiteY4" fmla="*/ 829771 h 2687367"/>
                <a:gd name="connsiteX5" fmla="*/ 2555036 w 2567901"/>
                <a:gd name="connsiteY5" fmla="*/ 1632596 h 2687367"/>
                <a:gd name="connsiteX6" fmla="*/ 1783436 w 2567901"/>
                <a:gd name="connsiteY6" fmla="*/ 2487849 h 2687367"/>
                <a:gd name="connsiteX7" fmla="*/ 1613480 w 2567901"/>
                <a:gd name="connsiteY7" fmla="*/ 2562316 h 2687367"/>
                <a:gd name="connsiteX8" fmla="*/ 1100869 w 2567901"/>
                <a:gd name="connsiteY8" fmla="*/ 2676769 h 2687367"/>
                <a:gd name="connsiteX9" fmla="*/ 614178 w 2567901"/>
                <a:gd name="connsiteY9" fmla="*/ 2456196 h 2687367"/>
                <a:gd name="connsiteX10" fmla="*/ 240586 w 2567901"/>
                <a:gd name="connsiteY10" fmla="*/ 2032054 h 2687367"/>
                <a:gd name="connsiteX11" fmla="*/ 30245 w 2567901"/>
                <a:gd name="connsiteY11" fmla="*/ 1481541 h 2687367"/>
                <a:gd name="connsiteX12" fmla="*/ 25021 w 2567901"/>
                <a:gd name="connsiteY12" fmla="*/ 905889 h 2687367"/>
                <a:gd name="connsiteX13" fmla="*/ 218217 w 2567901"/>
                <a:gd name="connsiteY13" fmla="*/ 450248 h 2687367"/>
                <a:gd name="connsiteX14" fmla="*/ 561607 w 2567901"/>
                <a:gd name="connsiteY14" fmla="*/ 156432 h 2687367"/>
                <a:gd name="connsiteX15" fmla="*/ 1177679 w 2567901"/>
                <a:gd name="connsiteY15" fmla="*/ 1063 h 268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7901" h="2687367">
                  <a:moveTo>
                    <a:pt x="1177679" y="1063"/>
                  </a:moveTo>
                  <a:cubicBezTo>
                    <a:pt x="1314507" y="-3704"/>
                    <a:pt x="1457510" y="7543"/>
                    <a:pt x="1603094" y="35223"/>
                  </a:cubicBezTo>
                  <a:cubicBezTo>
                    <a:pt x="1757985" y="64671"/>
                    <a:pt x="1874247" y="130651"/>
                    <a:pt x="1980105" y="249099"/>
                  </a:cubicBezTo>
                  <a:cubicBezTo>
                    <a:pt x="2090840" y="372996"/>
                    <a:pt x="2181857" y="544832"/>
                    <a:pt x="2278200" y="726784"/>
                  </a:cubicBezTo>
                  <a:cubicBezTo>
                    <a:pt x="2295948" y="760348"/>
                    <a:pt x="2314335" y="795032"/>
                    <a:pt x="2333016" y="829771"/>
                  </a:cubicBezTo>
                  <a:cubicBezTo>
                    <a:pt x="2500190" y="1140721"/>
                    <a:pt x="2605991" y="1364587"/>
                    <a:pt x="2555036" y="1632596"/>
                  </a:cubicBezTo>
                  <a:cubicBezTo>
                    <a:pt x="2477395" y="2040959"/>
                    <a:pt x="2246644" y="2296751"/>
                    <a:pt x="1783436" y="2487849"/>
                  </a:cubicBezTo>
                  <a:cubicBezTo>
                    <a:pt x="1722809" y="2512855"/>
                    <a:pt x="1667214" y="2537996"/>
                    <a:pt x="1613480" y="2562316"/>
                  </a:cubicBezTo>
                  <a:cubicBezTo>
                    <a:pt x="1390692" y="2663095"/>
                    <a:pt x="1275870" y="2710042"/>
                    <a:pt x="1100869" y="2676769"/>
                  </a:cubicBezTo>
                  <a:cubicBezTo>
                    <a:pt x="927103" y="2643732"/>
                    <a:pt x="763363" y="2569490"/>
                    <a:pt x="614178" y="2456196"/>
                  </a:cubicBezTo>
                  <a:cubicBezTo>
                    <a:pt x="468245" y="2345340"/>
                    <a:pt x="342509" y="2202615"/>
                    <a:pt x="240586" y="2032054"/>
                  </a:cubicBezTo>
                  <a:cubicBezTo>
                    <a:pt x="140365" y="1864400"/>
                    <a:pt x="67610" y="1674071"/>
                    <a:pt x="30245" y="1481541"/>
                  </a:cubicBezTo>
                  <a:cubicBezTo>
                    <a:pt x="-8261" y="1283803"/>
                    <a:pt x="-9994" y="1090060"/>
                    <a:pt x="25021" y="905889"/>
                  </a:cubicBezTo>
                  <a:cubicBezTo>
                    <a:pt x="58043" y="732204"/>
                    <a:pt x="123071" y="578936"/>
                    <a:pt x="218217" y="450248"/>
                  </a:cubicBezTo>
                  <a:cubicBezTo>
                    <a:pt x="307436" y="329654"/>
                    <a:pt x="422987" y="230806"/>
                    <a:pt x="561607" y="156432"/>
                  </a:cubicBezTo>
                  <a:cubicBezTo>
                    <a:pt x="738731" y="61442"/>
                    <a:pt x="949631" y="9010"/>
                    <a:pt x="1177679" y="1063"/>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41FD2C38-CC54-9602-E729-E900C82C1A06}"/>
              </a:ext>
            </a:extLst>
          </p:cNvPr>
          <p:cNvSpPr>
            <a:spLocks noGrp="1"/>
          </p:cNvSpPr>
          <p:nvPr>
            <p:ph type="title"/>
          </p:nvPr>
        </p:nvSpPr>
        <p:spPr>
          <a:xfrm>
            <a:off x="914400" y="442913"/>
            <a:ext cx="4659813" cy="1741544"/>
          </a:xfrm>
        </p:spPr>
        <p:txBody>
          <a:bodyPr anchor="b">
            <a:normAutofit/>
          </a:bodyPr>
          <a:lstStyle/>
          <a:p>
            <a:r>
              <a:rPr lang="en-ZA"/>
              <a:t>The main Purpose of this POE</a:t>
            </a:r>
          </a:p>
        </p:txBody>
      </p:sp>
      <p:grpSp>
        <p:nvGrpSpPr>
          <p:cNvPr id="76" name="Group 75">
            <a:extLst>
              <a:ext uri="{FF2B5EF4-FFF2-40B4-BE49-F238E27FC236}">
                <a16:creationId xmlns:a16="http://schemas.microsoft.com/office/drawing/2014/main" id="{97EE97F1-3EFC-4812-BCD8-BAFDC3EE46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1772" y="0"/>
            <a:ext cx="3580076" cy="3029264"/>
            <a:chOff x="8611772" y="0"/>
            <a:chExt cx="3580076" cy="3029264"/>
          </a:xfrm>
        </p:grpSpPr>
        <p:sp>
          <p:nvSpPr>
            <p:cNvPr id="67" name="Freeform: Shape 66">
              <a:extLst>
                <a:ext uri="{FF2B5EF4-FFF2-40B4-BE49-F238E27FC236}">
                  <a16:creationId xmlns:a16="http://schemas.microsoft.com/office/drawing/2014/main" id="{CB02D12A-0B1A-459E-8D70-2772831B92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87256" y="0"/>
              <a:ext cx="3404592" cy="2880968"/>
            </a:xfrm>
            <a:custGeom>
              <a:avLst/>
              <a:gdLst>
                <a:gd name="connsiteX0" fmla="*/ 30625 w 3404592"/>
                <a:gd name="connsiteY0" fmla="*/ 0 h 2880968"/>
                <a:gd name="connsiteX1" fmla="*/ 3404591 w 3404592"/>
                <a:gd name="connsiteY1" fmla="*/ 0 h 2880968"/>
                <a:gd name="connsiteX2" fmla="*/ 3404592 w 3404592"/>
                <a:gd name="connsiteY2" fmla="*/ 2363677 h 2880968"/>
                <a:gd name="connsiteX3" fmla="*/ 3368234 w 3404592"/>
                <a:gd name="connsiteY3" fmla="*/ 2400463 h 2880968"/>
                <a:gd name="connsiteX4" fmla="*/ 2673169 w 3404592"/>
                <a:gd name="connsiteY4" fmla="*/ 2691710 h 2880968"/>
                <a:gd name="connsiteX5" fmla="*/ 2383908 w 3404592"/>
                <a:gd name="connsiteY5" fmla="*/ 2766733 h 2880968"/>
                <a:gd name="connsiteX6" fmla="*/ 580011 w 3404592"/>
                <a:gd name="connsiteY6" fmla="*/ 2455996 h 2880968"/>
                <a:gd name="connsiteX7" fmla="*/ 103935 w 3404592"/>
                <a:gd name="connsiteY7" fmla="*/ 1224395 h 2880968"/>
                <a:gd name="connsiteX8" fmla="*/ 76737 w 3404592"/>
                <a:gd name="connsiteY8" fmla="*/ 1040246 h 2880968"/>
                <a:gd name="connsiteX9" fmla="*/ 6986 w 3404592"/>
                <a:gd name="connsiteY9" fmla="*/ 142569 h 2880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4592" h="2880968">
                  <a:moveTo>
                    <a:pt x="30625" y="0"/>
                  </a:moveTo>
                  <a:lnTo>
                    <a:pt x="3404591" y="0"/>
                  </a:lnTo>
                  <a:lnTo>
                    <a:pt x="3404592" y="2363677"/>
                  </a:lnTo>
                  <a:lnTo>
                    <a:pt x="3368234" y="2400463"/>
                  </a:lnTo>
                  <a:cubicBezTo>
                    <a:pt x="3196560" y="2556781"/>
                    <a:pt x="3007578" y="2609148"/>
                    <a:pt x="2673169" y="2691710"/>
                  </a:cubicBezTo>
                  <a:cubicBezTo>
                    <a:pt x="2580978" y="2714454"/>
                    <a:pt x="2485617" y="2738008"/>
                    <a:pt x="2383908" y="2766733"/>
                  </a:cubicBezTo>
                  <a:cubicBezTo>
                    <a:pt x="1606788" y="2986132"/>
                    <a:pt x="1067300" y="2893177"/>
                    <a:pt x="580011" y="2455996"/>
                  </a:cubicBezTo>
                  <a:cubicBezTo>
                    <a:pt x="260201" y="2169073"/>
                    <a:pt x="183906" y="1782048"/>
                    <a:pt x="103935" y="1224395"/>
                  </a:cubicBezTo>
                  <a:cubicBezTo>
                    <a:pt x="95007" y="1162089"/>
                    <a:pt x="85753" y="1100145"/>
                    <a:pt x="76737" y="1040246"/>
                  </a:cubicBezTo>
                  <a:cubicBezTo>
                    <a:pt x="28042" y="715402"/>
                    <a:pt x="-17905" y="408591"/>
                    <a:pt x="6986" y="14256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8" name="Freeform: Shape 67">
              <a:extLst>
                <a:ext uri="{FF2B5EF4-FFF2-40B4-BE49-F238E27FC236}">
                  <a16:creationId xmlns:a16="http://schemas.microsoft.com/office/drawing/2014/main" id="{DD3DED5B-9FB2-439B-A341-F0AF0B9F3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11772" y="0"/>
              <a:ext cx="3580076" cy="3029264"/>
            </a:xfrm>
            <a:custGeom>
              <a:avLst/>
              <a:gdLst>
                <a:gd name="connsiteX0" fmla="*/ 19381 w 3580076"/>
                <a:gd name="connsiteY0" fmla="*/ 0 h 3029264"/>
                <a:gd name="connsiteX1" fmla="*/ 3580076 w 3580076"/>
                <a:gd name="connsiteY1" fmla="*/ 0 h 3029264"/>
                <a:gd name="connsiteX2" fmla="*/ 3580076 w 3580076"/>
                <a:gd name="connsiteY2" fmla="*/ 2559343 h 3029264"/>
                <a:gd name="connsiteX3" fmla="*/ 3556258 w 3580076"/>
                <a:gd name="connsiteY3" fmla="*/ 2578706 h 3029264"/>
                <a:gd name="connsiteX4" fmla="*/ 2887450 w 3580076"/>
                <a:gd name="connsiteY4" fmla="*/ 2826324 h 3029264"/>
                <a:gd name="connsiteX5" fmla="*/ 2575407 w 3580076"/>
                <a:gd name="connsiteY5" fmla="*/ 2906908 h 3029264"/>
                <a:gd name="connsiteX6" fmla="*/ 628491 w 3580076"/>
                <a:gd name="connsiteY6" fmla="*/ 2569492 h 3029264"/>
                <a:gd name="connsiteX7" fmla="*/ 113276 w 3580076"/>
                <a:gd name="connsiteY7" fmla="*/ 1240251 h 3029264"/>
                <a:gd name="connsiteX8" fmla="*/ 83702 w 3580076"/>
                <a:gd name="connsiteY8" fmla="*/ 1041556 h 3029264"/>
                <a:gd name="connsiteX9" fmla="*/ 7347 w 3580076"/>
                <a:gd name="connsiteY9" fmla="*/ 73049 h 302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0076" h="3029264">
                  <a:moveTo>
                    <a:pt x="19381" y="0"/>
                  </a:moveTo>
                  <a:lnTo>
                    <a:pt x="3580076" y="0"/>
                  </a:lnTo>
                  <a:lnTo>
                    <a:pt x="3580076" y="2559343"/>
                  </a:lnTo>
                  <a:lnTo>
                    <a:pt x="3556258" y="2578706"/>
                  </a:lnTo>
                  <a:cubicBezTo>
                    <a:pt x="3390615" y="2698133"/>
                    <a:pt x="3196665" y="2750327"/>
                    <a:pt x="2887450" y="2826324"/>
                  </a:cubicBezTo>
                  <a:cubicBezTo>
                    <a:pt x="2787996" y="2850747"/>
                    <a:pt x="2685123" y="2876042"/>
                    <a:pt x="2575407" y="2906908"/>
                  </a:cubicBezTo>
                  <a:cubicBezTo>
                    <a:pt x="1737105" y="3142655"/>
                    <a:pt x="1154843" y="3041718"/>
                    <a:pt x="628491" y="2569492"/>
                  </a:cubicBezTo>
                  <a:cubicBezTo>
                    <a:pt x="283045" y="2259569"/>
                    <a:pt x="200247" y="1841949"/>
                    <a:pt x="113276" y="1240251"/>
                  </a:cubicBezTo>
                  <a:cubicBezTo>
                    <a:pt x="103566" y="1173024"/>
                    <a:pt x="93505" y="1106186"/>
                    <a:pt x="83702" y="1041556"/>
                  </a:cubicBezTo>
                  <a:cubicBezTo>
                    <a:pt x="30763" y="691052"/>
                    <a:pt x="-19190" y="360006"/>
                    <a:pt x="7347" y="7304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9" name="Freeform: Shape 68">
              <a:extLst>
                <a:ext uri="{FF2B5EF4-FFF2-40B4-BE49-F238E27FC236}">
                  <a16:creationId xmlns:a16="http://schemas.microsoft.com/office/drawing/2014/main" id="{5548DE56-0D2D-41D3-8B56-C6B37908F4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97970" y="0"/>
              <a:ext cx="3293877" cy="2743212"/>
            </a:xfrm>
            <a:custGeom>
              <a:avLst/>
              <a:gdLst>
                <a:gd name="connsiteX0" fmla="*/ 37772 w 3293877"/>
                <a:gd name="connsiteY0" fmla="*/ 0 h 2743212"/>
                <a:gd name="connsiteX1" fmla="*/ 3293877 w 3293877"/>
                <a:gd name="connsiteY1" fmla="*/ 0 h 2743212"/>
                <a:gd name="connsiteX2" fmla="*/ 3293877 w 3293877"/>
                <a:gd name="connsiteY2" fmla="*/ 2133887 h 2743212"/>
                <a:gd name="connsiteX3" fmla="*/ 3222757 w 3293877"/>
                <a:gd name="connsiteY3" fmla="*/ 2223039 h 2743212"/>
                <a:gd name="connsiteX4" fmla="*/ 2503136 w 3293877"/>
                <a:gd name="connsiteY4" fmla="*/ 2565392 h 2743212"/>
                <a:gd name="connsiteX5" fmla="*/ 2232111 w 3293877"/>
                <a:gd name="connsiteY5" fmla="*/ 2635826 h 2743212"/>
                <a:gd name="connsiteX6" fmla="*/ 542319 w 3293877"/>
                <a:gd name="connsiteY6" fmla="*/ 2345567 h 2743212"/>
                <a:gd name="connsiteX7" fmla="*/ 96920 w 3293877"/>
                <a:gd name="connsiteY7" fmla="*/ 1191868 h 2743212"/>
                <a:gd name="connsiteX8" fmla="*/ 71529 w 3293877"/>
                <a:gd name="connsiteY8" fmla="*/ 1019346 h 2743212"/>
                <a:gd name="connsiteX9" fmla="*/ 6623 w 3293877"/>
                <a:gd name="connsiteY9" fmla="*/ 178315 h 2743212"/>
                <a:gd name="connsiteX10" fmla="*/ 34833 w 3293877"/>
                <a:gd name="connsiteY10" fmla="*/ 8680 h 27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93877" h="2743212">
                  <a:moveTo>
                    <a:pt x="37772" y="0"/>
                  </a:moveTo>
                  <a:lnTo>
                    <a:pt x="3293877" y="0"/>
                  </a:lnTo>
                  <a:lnTo>
                    <a:pt x="3293877" y="2133887"/>
                  </a:lnTo>
                  <a:lnTo>
                    <a:pt x="3222757" y="2223039"/>
                  </a:lnTo>
                  <a:cubicBezTo>
                    <a:pt x="3041339" y="2425251"/>
                    <a:pt x="2861221" y="2476800"/>
                    <a:pt x="2503136" y="2565392"/>
                  </a:cubicBezTo>
                  <a:cubicBezTo>
                    <a:pt x="2416757" y="2586746"/>
                    <a:pt x="2327408" y="2608861"/>
                    <a:pt x="2232111" y="2635826"/>
                  </a:cubicBezTo>
                  <a:cubicBezTo>
                    <a:pt x="1503976" y="2841768"/>
                    <a:pt x="998612" y="2754939"/>
                    <a:pt x="542319" y="2345567"/>
                  </a:cubicBezTo>
                  <a:cubicBezTo>
                    <a:pt x="242852" y="2076894"/>
                    <a:pt x="171565" y="1714314"/>
                    <a:pt x="96920" y="1191868"/>
                  </a:cubicBezTo>
                  <a:cubicBezTo>
                    <a:pt x="88586" y="1133496"/>
                    <a:pt x="79946" y="1075462"/>
                    <a:pt x="71529" y="1019346"/>
                  </a:cubicBezTo>
                  <a:cubicBezTo>
                    <a:pt x="26070" y="715012"/>
                    <a:pt x="-16826" y="427572"/>
                    <a:pt x="6623" y="178315"/>
                  </a:cubicBezTo>
                  <a:cubicBezTo>
                    <a:pt x="12226" y="118742"/>
                    <a:pt x="21526" y="62431"/>
                    <a:pt x="34833" y="868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71" name="Group 70">
            <a:extLst>
              <a:ext uri="{FF2B5EF4-FFF2-40B4-BE49-F238E27FC236}">
                <a16:creationId xmlns:a16="http://schemas.microsoft.com/office/drawing/2014/main" id="{266F884D-C8C7-413B-842D-2DEA05D32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0493" y="3105611"/>
            <a:ext cx="6141507" cy="3752390"/>
            <a:chOff x="6050493" y="3105611"/>
            <a:chExt cx="6141507" cy="3752390"/>
          </a:xfrm>
        </p:grpSpPr>
        <p:sp>
          <p:nvSpPr>
            <p:cNvPr id="72" name="Freeform: Shape 71">
              <a:extLst>
                <a:ext uri="{FF2B5EF4-FFF2-40B4-BE49-F238E27FC236}">
                  <a16:creationId xmlns:a16="http://schemas.microsoft.com/office/drawing/2014/main" id="{10E28F44-72C3-41C0-9CB9-551957412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32156" y="3297832"/>
              <a:ext cx="5959692" cy="3560169"/>
            </a:xfrm>
            <a:custGeom>
              <a:avLst/>
              <a:gdLst>
                <a:gd name="connsiteX0" fmla="*/ 3008109 w 5959692"/>
                <a:gd name="connsiteY0" fmla="*/ 42 h 3560169"/>
                <a:gd name="connsiteX1" fmla="*/ 4702247 w 5959692"/>
                <a:gd name="connsiteY1" fmla="*/ 626282 h 3560169"/>
                <a:gd name="connsiteX2" fmla="*/ 5069411 w 5959692"/>
                <a:gd name="connsiteY2" fmla="*/ 865826 h 3560169"/>
                <a:gd name="connsiteX3" fmla="*/ 5895906 w 5959692"/>
                <a:gd name="connsiteY3" fmla="*/ 1594994 h 3560169"/>
                <a:gd name="connsiteX4" fmla="*/ 5959691 w 5959692"/>
                <a:gd name="connsiteY4" fmla="*/ 1728783 h 3560169"/>
                <a:gd name="connsiteX5" fmla="*/ 5959692 w 5959692"/>
                <a:gd name="connsiteY5" fmla="*/ 3560169 h 3560169"/>
                <a:gd name="connsiteX6" fmla="*/ 635 w 5959692"/>
                <a:gd name="connsiteY6" fmla="*/ 3560169 h 3560169"/>
                <a:gd name="connsiteX7" fmla="*/ 0 w 5959692"/>
                <a:gd name="connsiteY7" fmla="*/ 3534810 h 3560169"/>
                <a:gd name="connsiteX8" fmla="*/ 56896 w 5959692"/>
                <a:gd name="connsiteY8" fmla="*/ 3142342 h 3560169"/>
                <a:gd name="connsiteX9" fmla="*/ 605568 w 5959692"/>
                <a:gd name="connsiteY9" fmla="*/ 1932853 h 3560169"/>
                <a:gd name="connsiteX10" fmla="*/ 736162 w 5959692"/>
                <a:gd name="connsiteY10" fmla="*/ 1690788 h 3560169"/>
                <a:gd name="connsiteX11" fmla="*/ 2021319 w 5959692"/>
                <a:gd name="connsiteY11" fmla="*/ 209863 h 3560169"/>
                <a:gd name="connsiteX12" fmla="*/ 3008109 w 5959692"/>
                <a:gd name="connsiteY12" fmla="*/ 42 h 356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9692" h="3560169">
                  <a:moveTo>
                    <a:pt x="3008109" y="42"/>
                  </a:moveTo>
                  <a:cubicBezTo>
                    <a:pt x="3549058" y="3372"/>
                    <a:pt x="4091345" y="208628"/>
                    <a:pt x="4702247" y="626282"/>
                  </a:cubicBezTo>
                  <a:cubicBezTo>
                    <a:pt x="4830168" y="713755"/>
                    <a:pt x="4951806" y="791097"/>
                    <a:pt x="5069411" y="865826"/>
                  </a:cubicBezTo>
                  <a:cubicBezTo>
                    <a:pt x="5495976" y="1136988"/>
                    <a:pt x="5734167" y="1298128"/>
                    <a:pt x="5895906" y="1594994"/>
                  </a:cubicBezTo>
                  <a:lnTo>
                    <a:pt x="5959691" y="1728783"/>
                  </a:lnTo>
                  <a:lnTo>
                    <a:pt x="5959692" y="3560169"/>
                  </a:lnTo>
                  <a:lnTo>
                    <a:pt x="635" y="3560169"/>
                  </a:lnTo>
                  <a:lnTo>
                    <a:pt x="0" y="3534810"/>
                  </a:lnTo>
                  <a:cubicBezTo>
                    <a:pt x="2402" y="3407978"/>
                    <a:pt x="21463" y="3278501"/>
                    <a:pt x="56896" y="3142342"/>
                  </a:cubicBezTo>
                  <a:cubicBezTo>
                    <a:pt x="155720" y="2762537"/>
                    <a:pt x="374193" y="2359525"/>
                    <a:pt x="605568" y="1932853"/>
                  </a:cubicBezTo>
                  <a:cubicBezTo>
                    <a:pt x="648282" y="1854194"/>
                    <a:pt x="692359" y="1772817"/>
                    <a:pt x="736162" y="1690788"/>
                  </a:cubicBezTo>
                  <a:cubicBezTo>
                    <a:pt x="1128289" y="956620"/>
                    <a:pt x="1429537" y="456850"/>
                    <a:pt x="2021319" y="209863"/>
                  </a:cubicBezTo>
                  <a:cubicBezTo>
                    <a:pt x="2359453" y="68739"/>
                    <a:pt x="2683541" y="-1956"/>
                    <a:pt x="3008109" y="4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73" name="Freeform: Shape 72">
              <a:extLst>
                <a:ext uri="{FF2B5EF4-FFF2-40B4-BE49-F238E27FC236}">
                  <a16:creationId xmlns:a16="http://schemas.microsoft.com/office/drawing/2014/main" id="{7D646D3E-3C36-4B70-95F2-A1904224D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50493" y="3105611"/>
              <a:ext cx="6141507" cy="3752389"/>
            </a:xfrm>
            <a:custGeom>
              <a:avLst/>
              <a:gdLst>
                <a:gd name="connsiteX0" fmla="*/ 3215595 w 6141507"/>
                <a:gd name="connsiteY0" fmla="*/ 37 h 3752389"/>
                <a:gd name="connsiteX1" fmla="*/ 5025810 w 6141507"/>
                <a:gd name="connsiteY1" fmla="*/ 667544 h 3752389"/>
                <a:gd name="connsiteX2" fmla="*/ 5418068 w 6141507"/>
                <a:gd name="connsiteY2" fmla="*/ 923043 h 3752389"/>
                <a:gd name="connsiteX3" fmla="*/ 6130109 w 6141507"/>
                <a:gd name="connsiteY3" fmla="*/ 1458777 h 3752389"/>
                <a:gd name="connsiteX4" fmla="*/ 6141506 w 6141507"/>
                <a:gd name="connsiteY4" fmla="*/ 1473047 h 3752389"/>
                <a:gd name="connsiteX5" fmla="*/ 6141507 w 6141507"/>
                <a:gd name="connsiteY5" fmla="*/ 3752389 h 3752389"/>
                <a:gd name="connsiteX6" fmla="*/ 0 w 6141507"/>
                <a:gd name="connsiteY6" fmla="*/ 3752389 h 3752389"/>
                <a:gd name="connsiteX7" fmla="*/ 7127 w 6141507"/>
                <a:gd name="connsiteY7" fmla="*/ 3638865 h 3752389"/>
                <a:gd name="connsiteX8" fmla="*/ 59603 w 6141507"/>
                <a:gd name="connsiteY8" fmla="*/ 3356358 h 3752389"/>
                <a:gd name="connsiteX9" fmla="*/ 646726 w 6141507"/>
                <a:gd name="connsiteY9" fmla="*/ 2064848 h 3752389"/>
                <a:gd name="connsiteX10" fmla="*/ 786444 w 6141507"/>
                <a:gd name="connsiteY10" fmla="*/ 1806355 h 3752389"/>
                <a:gd name="connsiteX11" fmla="*/ 2160845 w 6141507"/>
                <a:gd name="connsiteY11" fmla="*/ 224629 h 3752389"/>
                <a:gd name="connsiteX12" fmla="*/ 3215595 w 6141507"/>
                <a:gd name="connsiteY12" fmla="*/ 37 h 375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41507" h="3752389">
                  <a:moveTo>
                    <a:pt x="3215595" y="37"/>
                  </a:moveTo>
                  <a:cubicBezTo>
                    <a:pt x="3793727" y="3265"/>
                    <a:pt x="4373168" y="222053"/>
                    <a:pt x="5025810" y="667544"/>
                  </a:cubicBezTo>
                  <a:cubicBezTo>
                    <a:pt x="5162471" y="760846"/>
                    <a:pt x="5292423" y="843339"/>
                    <a:pt x="5418068" y="923043"/>
                  </a:cubicBezTo>
                  <a:cubicBezTo>
                    <a:pt x="5743584" y="1129628"/>
                    <a:pt x="5966418" y="1276344"/>
                    <a:pt x="6130109" y="1458777"/>
                  </a:cubicBezTo>
                  <a:lnTo>
                    <a:pt x="6141506" y="1473047"/>
                  </a:lnTo>
                  <a:lnTo>
                    <a:pt x="6141507" y="3752389"/>
                  </a:lnTo>
                  <a:lnTo>
                    <a:pt x="0" y="3752389"/>
                  </a:lnTo>
                  <a:lnTo>
                    <a:pt x="7127" y="3638865"/>
                  </a:lnTo>
                  <a:cubicBezTo>
                    <a:pt x="16780" y="3547020"/>
                    <a:pt x="34303" y="3453276"/>
                    <a:pt x="59603" y="3356358"/>
                  </a:cubicBezTo>
                  <a:cubicBezTo>
                    <a:pt x="165452" y="2950843"/>
                    <a:pt x="399187" y="2520480"/>
                    <a:pt x="646726" y="2064848"/>
                  </a:cubicBezTo>
                  <a:cubicBezTo>
                    <a:pt x="692424" y="1980851"/>
                    <a:pt x="739580" y="1893951"/>
                    <a:pt x="786444" y="1806355"/>
                  </a:cubicBezTo>
                  <a:cubicBezTo>
                    <a:pt x="1205972" y="1022363"/>
                    <a:pt x="1528233" y="488656"/>
                    <a:pt x="2160845" y="224629"/>
                  </a:cubicBezTo>
                  <a:cubicBezTo>
                    <a:pt x="2522310" y="73767"/>
                    <a:pt x="2868717" y="-1899"/>
                    <a:pt x="3215595" y="37"/>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74" name="Freeform: Shape 73">
              <a:extLst>
                <a:ext uri="{FF2B5EF4-FFF2-40B4-BE49-F238E27FC236}">
                  <a16:creationId xmlns:a16="http://schemas.microsoft.com/office/drawing/2014/main" id="{D86D0CCB-AA1C-4777-977E-4DA1C256BD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67814" y="3406834"/>
              <a:ext cx="5724034" cy="3451167"/>
            </a:xfrm>
            <a:custGeom>
              <a:avLst/>
              <a:gdLst>
                <a:gd name="connsiteX0" fmla="*/ 2808622 w 5724034"/>
                <a:gd name="connsiteY0" fmla="*/ 207 h 3451167"/>
                <a:gd name="connsiteX1" fmla="*/ 4400004 w 5724034"/>
                <a:gd name="connsiteY1" fmla="*/ 607462 h 3451167"/>
                <a:gd name="connsiteX2" fmla="*/ 4745277 w 5724034"/>
                <a:gd name="connsiteY2" fmla="*/ 837612 h 3451167"/>
                <a:gd name="connsiteX3" fmla="*/ 5584627 w 5724034"/>
                <a:gd name="connsiteY3" fmla="*/ 1665805 h 3451167"/>
                <a:gd name="connsiteX4" fmla="*/ 5682689 w 5724034"/>
                <a:gd name="connsiteY4" fmla="*/ 1947596 h 3451167"/>
                <a:gd name="connsiteX5" fmla="*/ 5724034 w 5724034"/>
                <a:gd name="connsiteY5" fmla="*/ 2133764 h 3451167"/>
                <a:gd name="connsiteX6" fmla="*/ 5724034 w 5724034"/>
                <a:gd name="connsiteY6" fmla="*/ 3254784 h 3451167"/>
                <a:gd name="connsiteX7" fmla="*/ 5682668 w 5724034"/>
                <a:gd name="connsiteY7" fmla="*/ 3451167 h 3451167"/>
                <a:gd name="connsiteX8" fmla="*/ 3398 w 5724034"/>
                <a:gd name="connsiteY8" fmla="*/ 3451167 h 3451167"/>
                <a:gd name="connsiteX9" fmla="*/ 0 w 5724034"/>
                <a:gd name="connsiteY9" fmla="*/ 3332475 h 3451167"/>
                <a:gd name="connsiteX10" fmla="*/ 51930 w 5724034"/>
                <a:gd name="connsiteY10" fmla="*/ 2960389 h 3451167"/>
                <a:gd name="connsiteX11" fmla="*/ 562146 w 5724034"/>
                <a:gd name="connsiteY11" fmla="*/ 1816544 h 3451167"/>
                <a:gd name="connsiteX12" fmla="*/ 683754 w 5724034"/>
                <a:gd name="connsiteY12" fmla="*/ 1587775 h 3451167"/>
                <a:gd name="connsiteX13" fmla="*/ 1883792 w 5724034"/>
                <a:gd name="connsiteY13" fmla="*/ 191878 h 3451167"/>
                <a:gd name="connsiteX14" fmla="*/ 2808622 w 5724034"/>
                <a:gd name="connsiteY14" fmla="*/ 207 h 345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24034" h="3451167">
                  <a:moveTo>
                    <a:pt x="2808622" y="207"/>
                  </a:moveTo>
                  <a:cubicBezTo>
                    <a:pt x="3316039" y="7471"/>
                    <a:pt x="3825452" y="206405"/>
                    <a:pt x="4400004" y="607462"/>
                  </a:cubicBezTo>
                  <a:cubicBezTo>
                    <a:pt x="4520314" y="691458"/>
                    <a:pt x="4634691" y="765791"/>
                    <a:pt x="4745277" y="837612"/>
                  </a:cubicBezTo>
                  <a:cubicBezTo>
                    <a:pt x="5203686" y="1135457"/>
                    <a:pt x="5430786" y="1295036"/>
                    <a:pt x="5584627" y="1665805"/>
                  </a:cubicBezTo>
                  <a:cubicBezTo>
                    <a:pt x="5622816" y="1757843"/>
                    <a:pt x="5655511" y="1851832"/>
                    <a:pt x="5682689" y="1947596"/>
                  </a:cubicBezTo>
                  <a:lnTo>
                    <a:pt x="5724034" y="2133764"/>
                  </a:lnTo>
                  <a:lnTo>
                    <a:pt x="5724034" y="3254784"/>
                  </a:lnTo>
                  <a:lnTo>
                    <a:pt x="5682668" y="3451167"/>
                  </a:lnTo>
                  <a:lnTo>
                    <a:pt x="3398" y="3451167"/>
                  </a:lnTo>
                  <a:lnTo>
                    <a:pt x="0" y="3332475"/>
                  </a:lnTo>
                  <a:cubicBezTo>
                    <a:pt x="1789" y="3212109"/>
                    <a:pt x="19193" y="3089357"/>
                    <a:pt x="51930" y="2960389"/>
                  </a:cubicBezTo>
                  <a:cubicBezTo>
                    <a:pt x="143234" y="2600640"/>
                    <a:pt x="346682" y="2219774"/>
                    <a:pt x="562146" y="1816544"/>
                  </a:cubicBezTo>
                  <a:cubicBezTo>
                    <a:pt x="601922" y="1742209"/>
                    <a:pt x="642967" y="1665303"/>
                    <a:pt x="683754" y="1587775"/>
                  </a:cubicBezTo>
                  <a:cubicBezTo>
                    <a:pt x="1048876" y="893902"/>
                    <a:pt x="1329611" y="421821"/>
                    <a:pt x="1883792" y="191878"/>
                  </a:cubicBezTo>
                  <a:cubicBezTo>
                    <a:pt x="2200442" y="60492"/>
                    <a:pt x="2504173" y="-4151"/>
                    <a:pt x="2808622" y="20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77" name="Content Placeholder 2">
            <a:extLst>
              <a:ext uri="{FF2B5EF4-FFF2-40B4-BE49-F238E27FC236}">
                <a16:creationId xmlns:a16="http://schemas.microsoft.com/office/drawing/2014/main" id="{54039637-332E-90FD-F3FB-6699BE4E4D43}"/>
              </a:ext>
            </a:extLst>
          </p:cNvPr>
          <p:cNvSpPr>
            <a:spLocks noGrp="1"/>
          </p:cNvSpPr>
          <p:nvPr>
            <p:ph idx="1"/>
          </p:nvPr>
        </p:nvSpPr>
        <p:spPr>
          <a:xfrm>
            <a:off x="914401" y="2312988"/>
            <a:ext cx="5136092" cy="3651250"/>
          </a:xfrm>
        </p:spPr>
        <p:txBody>
          <a:bodyPr>
            <a:normAutofit/>
          </a:bodyPr>
          <a:lstStyle/>
          <a:p>
            <a:pPr>
              <a:lnSpc>
                <a:spcPct val="130000"/>
              </a:lnSpc>
            </a:pPr>
            <a:r>
              <a:rPr lang="en-ZA" sz="1400"/>
              <a:t>This application was set out as a challenge to demonstrate an actual scenario where a developer has to create something to help a company to improve efficiency and/or perform a service.</a:t>
            </a:r>
          </a:p>
          <a:p>
            <a:pPr>
              <a:lnSpc>
                <a:spcPct val="130000"/>
              </a:lnSpc>
            </a:pPr>
            <a:r>
              <a:rPr lang="en-ZA" sz="1400"/>
              <a:t>The main objectives in this POE were:</a:t>
            </a:r>
          </a:p>
          <a:p>
            <a:pPr marL="285750" indent="-285750">
              <a:lnSpc>
                <a:spcPct val="130000"/>
              </a:lnSpc>
              <a:buFont typeface="Arial" panose="020B0604020202020204" pitchFamily="34" charset="0"/>
              <a:buChar char="•"/>
            </a:pPr>
            <a:r>
              <a:rPr lang="en-ZA" sz="1400"/>
              <a:t>Simulate a Real-Life scenario encountered in the professional world</a:t>
            </a:r>
          </a:p>
          <a:p>
            <a:pPr marL="285750" indent="-285750">
              <a:lnSpc>
                <a:spcPct val="130000"/>
              </a:lnSpc>
              <a:buFont typeface="Arial" panose="020B0604020202020204" pitchFamily="34" charset="0"/>
              <a:buChar char="•"/>
            </a:pPr>
            <a:r>
              <a:rPr lang="en-ZA" sz="1400"/>
              <a:t>Creating a crucial tool</a:t>
            </a:r>
          </a:p>
          <a:p>
            <a:pPr marL="285750" indent="-285750">
              <a:lnSpc>
                <a:spcPct val="130000"/>
              </a:lnSpc>
              <a:buFont typeface="Arial" panose="020B0604020202020204" pitchFamily="34" charset="0"/>
              <a:buChar char="•"/>
            </a:pPr>
            <a:r>
              <a:rPr lang="en-ZA" sz="1400"/>
              <a:t>Making use of .NET web-based application</a:t>
            </a:r>
          </a:p>
          <a:p>
            <a:pPr marL="285750" indent="-285750">
              <a:lnSpc>
                <a:spcPct val="130000"/>
              </a:lnSpc>
              <a:buFont typeface="Arial" panose="020B0604020202020204" pitchFamily="34" charset="0"/>
              <a:buChar char="•"/>
            </a:pPr>
            <a:endParaRPr lang="en-ZA" sz="1400"/>
          </a:p>
        </p:txBody>
      </p:sp>
    </p:spTree>
    <p:extLst>
      <p:ext uri="{BB962C8B-B14F-4D97-AF65-F5344CB8AC3E}">
        <p14:creationId xmlns:p14="http://schemas.microsoft.com/office/powerpoint/2010/main" val="1667298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64" name="Group 63">
            <a:extLst>
              <a:ext uri="{FF2B5EF4-FFF2-40B4-BE49-F238E27FC236}">
                <a16:creationId xmlns:a16="http://schemas.microsoft.com/office/drawing/2014/main" id="{572E366A-B6DD-4F06-A42A-FF634FDE1B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839" y="970769"/>
            <a:ext cx="4936895" cy="4669465"/>
            <a:chOff x="648839" y="970769"/>
            <a:chExt cx="4936895" cy="4669465"/>
          </a:xfrm>
        </p:grpSpPr>
        <p:sp>
          <p:nvSpPr>
            <p:cNvPr id="65" name="Freeform: Shape 64">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43803" y="1124162"/>
              <a:ext cx="4691485"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2" y="1290468"/>
              <a:ext cx="438979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Shape 65">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48839" y="970769"/>
              <a:ext cx="4936895" cy="466946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B9A6F266-28B0-EF52-4DF2-053C3000D8A6}"/>
              </a:ext>
            </a:extLst>
          </p:cNvPr>
          <p:cNvSpPr>
            <a:spLocks noGrp="1"/>
          </p:cNvSpPr>
          <p:nvPr>
            <p:ph type="title"/>
          </p:nvPr>
        </p:nvSpPr>
        <p:spPr>
          <a:xfrm>
            <a:off x="1412543" y="1833229"/>
            <a:ext cx="3577022" cy="2934031"/>
          </a:xfrm>
        </p:spPr>
        <p:txBody>
          <a:bodyPr anchor="ctr">
            <a:normAutofit/>
          </a:bodyPr>
          <a:lstStyle/>
          <a:p>
            <a:r>
              <a:rPr lang="en-ZA"/>
              <a:t>The Application and it’s Purpose</a:t>
            </a:r>
          </a:p>
        </p:txBody>
      </p:sp>
      <p:sp>
        <p:nvSpPr>
          <p:cNvPr id="67" name="Content Placeholder 2">
            <a:extLst>
              <a:ext uri="{FF2B5EF4-FFF2-40B4-BE49-F238E27FC236}">
                <a16:creationId xmlns:a16="http://schemas.microsoft.com/office/drawing/2014/main" id="{5701FC9D-0F6C-46D9-A36D-030623A775D1}"/>
              </a:ext>
            </a:extLst>
          </p:cNvPr>
          <p:cNvSpPr>
            <a:spLocks noGrp="1"/>
          </p:cNvSpPr>
          <p:nvPr>
            <p:ph idx="1"/>
          </p:nvPr>
        </p:nvSpPr>
        <p:spPr>
          <a:xfrm>
            <a:off x="6241774" y="1105306"/>
            <a:ext cx="4825512" cy="4337435"/>
          </a:xfrm>
        </p:spPr>
        <p:txBody>
          <a:bodyPr anchor="ctr">
            <a:normAutofit/>
          </a:bodyPr>
          <a:lstStyle/>
          <a:p>
            <a:r>
              <a:rPr lang="en-ZA"/>
              <a:t>The Application itself was a Contract Monthly Claim System (CMCS) which would help Lecturers streamline a often-complex process of submitting and approving monthly claims.</a:t>
            </a:r>
          </a:p>
          <a:p>
            <a:r>
              <a:rPr lang="en-ZA"/>
              <a:t>For the Application there would be 4 types of views with a Login to determine what view the user will see.</a:t>
            </a:r>
          </a:p>
        </p:txBody>
      </p:sp>
    </p:spTree>
    <p:extLst>
      <p:ext uri="{BB962C8B-B14F-4D97-AF65-F5344CB8AC3E}">
        <p14:creationId xmlns:p14="http://schemas.microsoft.com/office/powerpoint/2010/main" val="746919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A0A1-E06C-9897-280E-A3E7D12D416C}"/>
              </a:ext>
            </a:extLst>
          </p:cNvPr>
          <p:cNvSpPr>
            <a:spLocks noGrp="1"/>
          </p:cNvSpPr>
          <p:nvPr>
            <p:ph type="title"/>
          </p:nvPr>
        </p:nvSpPr>
        <p:spPr/>
        <p:txBody>
          <a:bodyPr/>
          <a:lstStyle/>
          <a:p>
            <a:r>
              <a:rPr lang="en-ZA" dirty="0"/>
              <a:t>The Login View</a:t>
            </a:r>
          </a:p>
        </p:txBody>
      </p:sp>
      <p:pic>
        <p:nvPicPr>
          <p:cNvPr id="6" name="Content Placeholder 5" descr="A screenshot of a computer screen&#10;&#10;AI-generated content may be incorrect.">
            <a:extLst>
              <a:ext uri="{FF2B5EF4-FFF2-40B4-BE49-F238E27FC236}">
                <a16:creationId xmlns:a16="http://schemas.microsoft.com/office/drawing/2014/main" id="{AE5E0BC9-BA42-A12A-74E2-72F7B5136F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691" y="1828801"/>
            <a:ext cx="8049786" cy="4012315"/>
          </a:xfrm>
        </p:spPr>
      </p:pic>
      <p:sp>
        <p:nvSpPr>
          <p:cNvPr id="4" name="Text Placeholder 3">
            <a:extLst>
              <a:ext uri="{FF2B5EF4-FFF2-40B4-BE49-F238E27FC236}">
                <a16:creationId xmlns:a16="http://schemas.microsoft.com/office/drawing/2014/main" id="{C6937348-44AD-C255-5741-94729ADFADF7}"/>
              </a:ext>
            </a:extLst>
          </p:cNvPr>
          <p:cNvSpPr>
            <a:spLocks noGrp="1"/>
          </p:cNvSpPr>
          <p:nvPr>
            <p:ph type="body" sz="half" idx="2"/>
          </p:nvPr>
        </p:nvSpPr>
        <p:spPr/>
        <p:txBody>
          <a:bodyPr/>
          <a:lstStyle/>
          <a:p>
            <a:r>
              <a:rPr lang="en-ZA" dirty="0"/>
              <a:t>The Login View would take the entered email and password and link it with the database if there is a match the user would have successfully logged in</a:t>
            </a:r>
          </a:p>
        </p:txBody>
      </p:sp>
    </p:spTree>
    <p:extLst>
      <p:ext uri="{BB962C8B-B14F-4D97-AF65-F5344CB8AC3E}">
        <p14:creationId xmlns:p14="http://schemas.microsoft.com/office/powerpoint/2010/main" val="869901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91854-967A-BAD9-63E7-1DF4DFBD08C0}"/>
              </a:ext>
            </a:extLst>
          </p:cNvPr>
          <p:cNvSpPr>
            <a:spLocks noGrp="1"/>
          </p:cNvSpPr>
          <p:nvPr>
            <p:ph type="title"/>
          </p:nvPr>
        </p:nvSpPr>
        <p:spPr>
          <a:xfrm>
            <a:off x="3516488" y="309486"/>
            <a:ext cx="5159024" cy="905027"/>
          </a:xfrm>
        </p:spPr>
        <p:txBody>
          <a:bodyPr>
            <a:normAutofit/>
          </a:bodyPr>
          <a:lstStyle/>
          <a:p>
            <a:r>
              <a:rPr lang="en-ZA" dirty="0"/>
              <a:t>The Lecturer’s View</a:t>
            </a:r>
          </a:p>
        </p:txBody>
      </p:sp>
      <p:pic>
        <p:nvPicPr>
          <p:cNvPr id="6" name="Content Placeholder 5" descr="A screenshot of a computer&#10;&#10;AI-generated content may be incorrect.">
            <a:extLst>
              <a:ext uri="{FF2B5EF4-FFF2-40B4-BE49-F238E27FC236}">
                <a16:creationId xmlns:a16="http://schemas.microsoft.com/office/drawing/2014/main" id="{61BFBB81-6E9D-EDE3-E133-F175516F31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733" y="1348064"/>
            <a:ext cx="8035491" cy="4017745"/>
          </a:xfrm>
        </p:spPr>
      </p:pic>
      <p:sp>
        <p:nvSpPr>
          <p:cNvPr id="4" name="Text Placeholder 3">
            <a:extLst>
              <a:ext uri="{FF2B5EF4-FFF2-40B4-BE49-F238E27FC236}">
                <a16:creationId xmlns:a16="http://schemas.microsoft.com/office/drawing/2014/main" id="{4C4B5C96-2F3B-16EC-06A4-1D8EA1C4E328}"/>
              </a:ext>
            </a:extLst>
          </p:cNvPr>
          <p:cNvSpPr>
            <a:spLocks noGrp="1"/>
          </p:cNvSpPr>
          <p:nvPr>
            <p:ph type="body" sz="half" idx="2"/>
          </p:nvPr>
        </p:nvSpPr>
        <p:spPr>
          <a:xfrm>
            <a:off x="8476488" y="1348065"/>
            <a:ext cx="3227715" cy="4747936"/>
          </a:xfrm>
        </p:spPr>
        <p:txBody>
          <a:bodyPr/>
          <a:lstStyle/>
          <a:p>
            <a:r>
              <a:rPr lang="en-ZA" dirty="0"/>
              <a:t>The Lecturer’s View is the place where Lecturer’s can make their claims and track it progress. They can it status whether it is rejected, approved or pending. They can also view details to see if they got something wrong and they can delete the claim when they feel is necessary.</a:t>
            </a:r>
          </a:p>
        </p:txBody>
      </p:sp>
    </p:spTree>
    <p:extLst>
      <p:ext uri="{BB962C8B-B14F-4D97-AF65-F5344CB8AC3E}">
        <p14:creationId xmlns:p14="http://schemas.microsoft.com/office/powerpoint/2010/main" val="2583454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ED141-5D40-AFBD-C452-BFA1B0241F88}"/>
              </a:ext>
            </a:extLst>
          </p:cNvPr>
          <p:cNvSpPr>
            <a:spLocks noGrp="1"/>
          </p:cNvSpPr>
          <p:nvPr>
            <p:ph type="title"/>
          </p:nvPr>
        </p:nvSpPr>
        <p:spPr>
          <a:xfrm>
            <a:off x="3303058" y="259080"/>
            <a:ext cx="5585883" cy="1005840"/>
          </a:xfrm>
        </p:spPr>
        <p:txBody>
          <a:bodyPr>
            <a:normAutofit/>
          </a:bodyPr>
          <a:lstStyle/>
          <a:p>
            <a:r>
              <a:rPr lang="en-ZA" dirty="0"/>
              <a:t>Coordinator’s View</a:t>
            </a:r>
          </a:p>
        </p:txBody>
      </p:sp>
      <p:pic>
        <p:nvPicPr>
          <p:cNvPr id="6" name="Content Placeholder 5" descr="A screenshot of a computer&#10;&#10;AI-generated content may be incorrect.">
            <a:extLst>
              <a:ext uri="{FF2B5EF4-FFF2-40B4-BE49-F238E27FC236}">
                <a16:creationId xmlns:a16="http://schemas.microsoft.com/office/drawing/2014/main" id="{E47A40EB-CBF7-8192-9635-C66DA3BF4F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972" y="1519943"/>
            <a:ext cx="7838987" cy="3899079"/>
          </a:xfrm>
        </p:spPr>
      </p:pic>
      <p:sp>
        <p:nvSpPr>
          <p:cNvPr id="4" name="Text Placeholder 3">
            <a:extLst>
              <a:ext uri="{FF2B5EF4-FFF2-40B4-BE49-F238E27FC236}">
                <a16:creationId xmlns:a16="http://schemas.microsoft.com/office/drawing/2014/main" id="{A12C26ED-5EFA-6C12-8E23-C0B12CA40D1E}"/>
              </a:ext>
            </a:extLst>
          </p:cNvPr>
          <p:cNvSpPr>
            <a:spLocks noGrp="1"/>
          </p:cNvSpPr>
          <p:nvPr>
            <p:ph type="body" sz="half" idx="2"/>
          </p:nvPr>
        </p:nvSpPr>
        <p:spPr>
          <a:xfrm>
            <a:off x="8104472" y="1434165"/>
            <a:ext cx="3599731" cy="4661836"/>
          </a:xfrm>
        </p:spPr>
        <p:txBody>
          <a:bodyPr>
            <a:normAutofit lnSpcReduction="10000"/>
          </a:bodyPr>
          <a:lstStyle/>
          <a:p>
            <a:r>
              <a:rPr lang="en-ZA" dirty="0"/>
              <a:t>The Coordinator View is where the Programme Coordinator can view the claims submitted by the Lecturer and determine if the claim should move up the chain to the Academic Manager where he gives the final Approval or Rejection. The Coordinator can download documents associated with claim and view extra details of the claim</a:t>
            </a:r>
          </a:p>
        </p:txBody>
      </p:sp>
    </p:spTree>
    <p:extLst>
      <p:ext uri="{BB962C8B-B14F-4D97-AF65-F5344CB8AC3E}">
        <p14:creationId xmlns:p14="http://schemas.microsoft.com/office/powerpoint/2010/main" val="311935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93A3-41FA-619E-1CC1-EC0B1D951EA2}"/>
              </a:ext>
            </a:extLst>
          </p:cNvPr>
          <p:cNvSpPr>
            <a:spLocks noGrp="1"/>
          </p:cNvSpPr>
          <p:nvPr>
            <p:ph type="title"/>
          </p:nvPr>
        </p:nvSpPr>
        <p:spPr>
          <a:xfrm>
            <a:off x="3184358" y="370458"/>
            <a:ext cx="5823284" cy="972266"/>
          </a:xfrm>
        </p:spPr>
        <p:txBody>
          <a:bodyPr/>
          <a:lstStyle/>
          <a:p>
            <a:r>
              <a:rPr lang="en-ZA" dirty="0"/>
              <a:t>Manager’s View</a:t>
            </a:r>
          </a:p>
        </p:txBody>
      </p:sp>
      <p:pic>
        <p:nvPicPr>
          <p:cNvPr id="6" name="Content Placeholder 5" descr="A screenshot of a computer&#10;&#10;AI-generated content may be incorrect.">
            <a:extLst>
              <a:ext uri="{FF2B5EF4-FFF2-40B4-BE49-F238E27FC236}">
                <a16:creationId xmlns:a16="http://schemas.microsoft.com/office/drawing/2014/main" id="{9D43F815-567F-B537-C553-789F33CFA2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475" y="1612346"/>
            <a:ext cx="7854955" cy="3902930"/>
          </a:xfrm>
        </p:spPr>
      </p:pic>
      <p:sp>
        <p:nvSpPr>
          <p:cNvPr id="4" name="Text Placeholder 3">
            <a:extLst>
              <a:ext uri="{FF2B5EF4-FFF2-40B4-BE49-F238E27FC236}">
                <a16:creationId xmlns:a16="http://schemas.microsoft.com/office/drawing/2014/main" id="{FE4722CC-8912-69E1-B8FB-F712BF8E1146}"/>
              </a:ext>
            </a:extLst>
          </p:cNvPr>
          <p:cNvSpPr>
            <a:spLocks noGrp="1"/>
          </p:cNvSpPr>
          <p:nvPr>
            <p:ph type="body" sz="half" idx="2"/>
          </p:nvPr>
        </p:nvSpPr>
        <p:spPr>
          <a:xfrm>
            <a:off x="8476488" y="1342725"/>
            <a:ext cx="3475037" cy="4753276"/>
          </a:xfrm>
        </p:spPr>
        <p:txBody>
          <a:bodyPr>
            <a:normAutofit lnSpcReduction="10000"/>
          </a:bodyPr>
          <a:lstStyle/>
          <a:p>
            <a:r>
              <a:rPr lang="en-ZA" dirty="0"/>
              <a:t>The Manager’s View is similar to the Coordinator View where the Academic Manager can view claims that have been verified by the Programme Coordinator. The same functionality are here except when the manager approves the claim it is official approved and then shows the Lecturer its approval status and moving onto the HR.</a:t>
            </a:r>
          </a:p>
        </p:txBody>
      </p:sp>
    </p:spTree>
    <p:extLst>
      <p:ext uri="{BB962C8B-B14F-4D97-AF65-F5344CB8AC3E}">
        <p14:creationId xmlns:p14="http://schemas.microsoft.com/office/powerpoint/2010/main" val="149346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CDD4A-DAAE-C451-8334-F7E78219DE02}"/>
              </a:ext>
            </a:extLst>
          </p:cNvPr>
          <p:cNvSpPr>
            <a:spLocks noGrp="1"/>
          </p:cNvSpPr>
          <p:nvPr>
            <p:ph type="title"/>
          </p:nvPr>
        </p:nvSpPr>
        <p:spPr>
          <a:xfrm>
            <a:off x="3054475" y="197318"/>
            <a:ext cx="6083049" cy="938463"/>
          </a:xfrm>
        </p:spPr>
        <p:txBody>
          <a:bodyPr/>
          <a:lstStyle/>
          <a:p>
            <a:r>
              <a:rPr lang="en-ZA" dirty="0"/>
              <a:t>The HR’s View</a:t>
            </a:r>
          </a:p>
        </p:txBody>
      </p:sp>
      <p:pic>
        <p:nvPicPr>
          <p:cNvPr id="6" name="Content Placeholder 5" descr="A screenshot of a computer&#10;&#10;AI-generated content may be incorrect.">
            <a:extLst>
              <a:ext uri="{FF2B5EF4-FFF2-40B4-BE49-F238E27FC236}">
                <a16:creationId xmlns:a16="http://schemas.microsoft.com/office/drawing/2014/main" id="{BCC37B70-28DD-7776-F5BC-2EB8E2899A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475" y="1261714"/>
            <a:ext cx="7744668" cy="3860233"/>
          </a:xfrm>
        </p:spPr>
      </p:pic>
      <p:sp>
        <p:nvSpPr>
          <p:cNvPr id="4" name="Text Placeholder 3">
            <a:extLst>
              <a:ext uri="{FF2B5EF4-FFF2-40B4-BE49-F238E27FC236}">
                <a16:creationId xmlns:a16="http://schemas.microsoft.com/office/drawing/2014/main" id="{BBD54C24-4A33-2483-C37C-FF7068C1FE51}"/>
              </a:ext>
            </a:extLst>
          </p:cNvPr>
          <p:cNvSpPr>
            <a:spLocks noGrp="1"/>
          </p:cNvSpPr>
          <p:nvPr>
            <p:ph type="body" sz="half" idx="2"/>
          </p:nvPr>
        </p:nvSpPr>
        <p:spPr>
          <a:xfrm>
            <a:off x="8191099" y="1261715"/>
            <a:ext cx="3760425" cy="3724171"/>
          </a:xfrm>
        </p:spPr>
        <p:txBody>
          <a:bodyPr/>
          <a:lstStyle/>
          <a:p>
            <a:r>
              <a:rPr lang="en-ZA" dirty="0"/>
              <a:t>The HR’s view is the place where HR personnel perform their duties, adding and editing User profiles (which influence the database) as well as viewing the reports which show all claims and when they are approved HR can generate an invoice for the claim.</a:t>
            </a:r>
          </a:p>
        </p:txBody>
      </p:sp>
    </p:spTree>
    <p:extLst>
      <p:ext uri="{BB962C8B-B14F-4D97-AF65-F5344CB8AC3E}">
        <p14:creationId xmlns:p14="http://schemas.microsoft.com/office/powerpoint/2010/main" val="3434424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46D8F548-F855-BC3D-B120-21DD24CF665F}"/>
              </a:ext>
            </a:extLst>
          </p:cNvPr>
          <p:cNvSpPr>
            <a:spLocks noGrp="1"/>
          </p:cNvSpPr>
          <p:nvPr>
            <p:ph type="title"/>
          </p:nvPr>
        </p:nvSpPr>
        <p:spPr>
          <a:xfrm>
            <a:off x="992519" y="129622"/>
            <a:ext cx="5271804" cy="764140"/>
          </a:xfrm>
        </p:spPr>
        <p:txBody>
          <a:bodyPr anchor="b">
            <a:normAutofit fontScale="90000"/>
          </a:bodyPr>
          <a:lstStyle/>
          <a:p>
            <a:r>
              <a:rPr lang="en-ZA" dirty="0"/>
              <a:t>Feedback Changes</a:t>
            </a:r>
          </a:p>
        </p:txBody>
      </p:sp>
      <p:sp>
        <p:nvSpPr>
          <p:cNvPr id="3" name="Content Placeholder 2">
            <a:extLst>
              <a:ext uri="{FF2B5EF4-FFF2-40B4-BE49-F238E27FC236}">
                <a16:creationId xmlns:a16="http://schemas.microsoft.com/office/drawing/2014/main" id="{57FD0C1D-6592-997B-7A49-6A0C9ED76F94}"/>
              </a:ext>
            </a:extLst>
          </p:cNvPr>
          <p:cNvSpPr>
            <a:spLocks noGrp="1"/>
          </p:cNvSpPr>
          <p:nvPr>
            <p:ph idx="1"/>
          </p:nvPr>
        </p:nvSpPr>
        <p:spPr>
          <a:xfrm>
            <a:off x="279133" y="893762"/>
            <a:ext cx="5985190" cy="5689918"/>
          </a:xfrm>
        </p:spPr>
        <p:txBody>
          <a:bodyPr>
            <a:normAutofit/>
          </a:bodyPr>
          <a:lstStyle/>
          <a:p>
            <a:pPr>
              <a:lnSpc>
                <a:spcPct val="130000"/>
              </a:lnSpc>
            </a:pPr>
            <a:r>
              <a:rPr lang="en-ZA" sz="1300" dirty="0"/>
              <a:t>With the POE ending in the final POE version there were needed feedback changes for Part 3 that were brought up in Part 2 by the Lecturer.</a:t>
            </a:r>
          </a:p>
          <a:p>
            <a:pPr>
              <a:lnSpc>
                <a:spcPct val="130000"/>
              </a:lnSpc>
            </a:pPr>
            <a:r>
              <a:rPr lang="en-ZA" sz="1300" dirty="0"/>
              <a:t>Those being:</a:t>
            </a:r>
          </a:p>
          <a:p>
            <a:pPr marL="285750" lvl="0" indent="-285750">
              <a:lnSpc>
                <a:spcPct val="130000"/>
              </a:lnSpc>
              <a:buFont typeface="Arial" panose="020B0604020202020204" pitchFamily="34" charset="0"/>
              <a:buChar char="•"/>
            </a:pPr>
            <a:r>
              <a:rPr lang="en-ZA" sz="1300" dirty="0"/>
              <a:t>Colour Coordination was added to all views involving the Claim Status to add more readability and present Clear Information.</a:t>
            </a:r>
          </a:p>
          <a:p>
            <a:pPr marL="285750" lvl="0" indent="-285750">
              <a:lnSpc>
                <a:spcPct val="130000"/>
              </a:lnSpc>
              <a:buFont typeface="Arial" panose="020B0604020202020204" pitchFamily="34" charset="0"/>
              <a:buChar char="•"/>
            </a:pPr>
            <a:r>
              <a:rPr lang="en-ZA" sz="1300" dirty="0"/>
              <a:t>The storage folder was moved to a Document folder within the </a:t>
            </a:r>
            <a:r>
              <a:rPr lang="en-ZA" sz="1300" dirty="0" err="1"/>
              <a:t>App_Data</a:t>
            </a:r>
            <a:r>
              <a:rPr lang="en-ZA" sz="1300" dirty="0"/>
              <a:t> folder which is within the Project PROG6212_POE and securing methods were added to prevent unauthorized access to files.</a:t>
            </a:r>
          </a:p>
          <a:p>
            <a:pPr marL="285750" indent="-285750">
              <a:lnSpc>
                <a:spcPct val="130000"/>
              </a:lnSpc>
              <a:buFont typeface="Arial" panose="020B0604020202020204" pitchFamily="34" charset="0"/>
              <a:buChar char="•"/>
            </a:pPr>
            <a:r>
              <a:rPr lang="en-US" sz="1300" dirty="0"/>
              <a:t>Unit Tests were checked and have been believed to fixed in properly included in the GitHub Repository (tested by fellow Students).</a:t>
            </a:r>
          </a:p>
          <a:p>
            <a:pPr marL="285750" indent="-285750">
              <a:lnSpc>
                <a:spcPct val="130000"/>
              </a:lnSpc>
              <a:buFont typeface="Arial" panose="020B0604020202020204" pitchFamily="34" charset="0"/>
              <a:buChar char="•"/>
            </a:pPr>
            <a:r>
              <a:rPr lang="en-US" sz="1300" dirty="0"/>
              <a:t>All commits made for Part 3 have been more descriptive in their messages and explanatory in the changes.</a:t>
            </a:r>
          </a:p>
          <a:p>
            <a:pPr marL="285750" indent="-285750">
              <a:lnSpc>
                <a:spcPct val="130000"/>
              </a:lnSpc>
              <a:buFont typeface="Arial" panose="020B0604020202020204" pitchFamily="34" charset="0"/>
              <a:buChar char="•"/>
            </a:pPr>
            <a:endParaRPr lang="en-ZA" sz="1300" dirty="0"/>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Different colored organizers">
            <a:extLst>
              <a:ext uri="{FF2B5EF4-FFF2-40B4-BE49-F238E27FC236}">
                <a16:creationId xmlns:a16="http://schemas.microsoft.com/office/drawing/2014/main" id="{F26853F7-07BC-027A-7FFF-0EBA8FC904CB}"/>
              </a:ext>
            </a:extLst>
          </p:cNvPr>
          <p:cNvPicPr>
            <a:picLocks noChangeAspect="1"/>
          </p:cNvPicPr>
          <p:nvPr/>
        </p:nvPicPr>
        <p:blipFill>
          <a:blip r:embed="rId2"/>
          <a:srcRect l="28051" r="27945" b="1"/>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604157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FA6899-810B-408E-8540-CD9DB4B51ACC}"/>
              </a:ext>
            </a:extLst>
          </p:cNvPr>
          <p:cNvSpPr>
            <a:spLocks noGrp="1"/>
          </p:cNvSpPr>
          <p:nvPr>
            <p:ph type="body" idx="1"/>
          </p:nvPr>
        </p:nvSpPr>
        <p:spPr/>
        <p:txBody>
          <a:bodyPr/>
          <a:lstStyle/>
          <a:p>
            <a:r>
              <a:rPr lang="en-ZA" dirty="0"/>
              <a:t>Databases</a:t>
            </a:r>
          </a:p>
        </p:txBody>
      </p:sp>
      <p:sp>
        <p:nvSpPr>
          <p:cNvPr id="3" name="Content Placeholder 2">
            <a:extLst>
              <a:ext uri="{FF2B5EF4-FFF2-40B4-BE49-F238E27FC236}">
                <a16:creationId xmlns:a16="http://schemas.microsoft.com/office/drawing/2014/main" id="{E32E97A8-D9A2-50EA-E8FC-D4A0BCC461B2}"/>
              </a:ext>
            </a:extLst>
          </p:cNvPr>
          <p:cNvSpPr>
            <a:spLocks noGrp="1"/>
          </p:cNvSpPr>
          <p:nvPr>
            <p:ph sz="half" idx="2"/>
          </p:nvPr>
        </p:nvSpPr>
        <p:spPr>
          <a:xfrm>
            <a:off x="262550" y="3316639"/>
            <a:ext cx="5818211" cy="2779361"/>
          </a:xfrm>
        </p:spPr>
        <p:txBody>
          <a:bodyPr>
            <a:normAutofit lnSpcReduction="10000"/>
          </a:bodyPr>
          <a:lstStyle/>
          <a:p>
            <a:r>
              <a:rPr lang="en-ZA" dirty="0"/>
              <a:t>With Entity Framework Core the database is easily created and helps to store claims and users. With EF Core models can be used to set a database table and allow the use of </a:t>
            </a:r>
            <a:r>
              <a:rPr lang="en-ZA" dirty="0" err="1"/>
              <a:t>DbContext</a:t>
            </a:r>
            <a:r>
              <a:rPr lang="en-ZA" dirty="0"/>
              <a:t> which helps to set database properties and can allow for seeding data entries.</a:t>
            </a:r>
          </a:p>
        </p:txBody>
      </p:sp>
      <p:sp>
        <p:nvSpPr>
          <p:cNvPr id="4" name="Text Placeholder 3">
            <a:extLst>
              <a:ext uri="{FF2B5EF4-FFF2-40B4-BE49-F238E27FC236}">
                <a16:creationId xmlns:a16="http://schemas.microsoft.com/office/drawing/2014/main" id="{EEF1447C-A8F3-5E0A-11B7-45228738F684}"/>
              </a:ext>
            </a:extLst>
          </p:cNvPr>
          <p:cNvSpPr>
            <a:spLocks noGrp="1"/>
          </p:cNvSpPr>
          <p:nvPr>
            <p:ph type="body" sz="quarter" idx="3"/>
          </p:nvPr>
        </p:nvSpPr>
        <p:spPr/>
        <p:txBody>
          <a:bodyPr/>
          <a:lstStyle/>
          <a:p>
            <a:r>
              <a:rPr lang="en-ZA" dirty="0"/>
              <a:t>sessions</a:t>
            </a:r>
          </a:p>
        </p:txBody>
      </p:sp>
      <p:sp>
        <p:nvSpPr>
          <p:cNvPr id="5" name="Content Placeholder 4">
            <a:extLst>
              <a:ext uri="{FF2B5EF4-FFF2-40B4-BE49-F238E27FC236}">
                <a16:creationId xmlns:a16="http://schemas.microsoft.com/office/drawing/2014/main" id="{F70CD1CC-98CF-8A15-EFD9-6548E774DCC0}"/>
              </a:ext>
            </a:extLst>
          </p:cNvPr>
          <p:cNvSpPr>
            <a:spLocks noGrp="1"/>
          </p:cNvSpPr>
          <p:nvPr>
            <p:ph sz="quarter" idx="4"/>
          </p:nvPr>
        </p:nvSpPr>
        <p:spPr>
          <a:xfrm>
            <a:off x="6530290" y="3316639"/>
            <a:ext cx="5399160" cy="2779361"/>
          </a:xfrm>
        </p:spPr>
        <p:txBody>
          <a:bodyPr>
            <a:normAutofit lnSpcReduction="10000"/>
          </a:bodyPr>
          <a:lstStyle/>
          <a:p>
            <a:r>
              <a:rPr lang="en-ZA" dirty="0"/>
              <a:t>With Sessions we can set a temporary storage area to hold information while using the web app like User information. With it we can set User names so that the program can name the user as well as set user specific data within the code.</a:t>
            </a:r>
          </a:p>
        </p:txBody>
      </p:sp>
      <p:sp>
        <p:nvSpPr>
          <p:cNvPr id="6" name="Title 5">
            <a:extLst>
              <a:ext uri="{FF2B5EF4-FFF2-40B4-BE49-F238E27FC236}">
                <a16:creationId xmlns:a16="http://schemas.microsoft.com/office/drawing/2014/main" id="{6E4B2ABE-9123-5837-7737-EAE19DF90B90}"/>
              </a:ext>
            </a:extLst>
          </p:cNvPr>
          <p:cNvSpPr>
            <a:spLocks noGrp="1"/>
          </p:cNvSpPr>
          <p:nvPr>
            <p:ph type="title"/>
          </p:nvPr>
        </p:nvSpPr>
        <p:spPr/>
        <p:txBody>
          <a:bodyPr>
            <a:normAutofit fontScale="90000"/>
          </a:bodyPr>
          <a:lstStyle/>
          <a:p>
            <a:r>
              <a:rPr lang="en-ZA" dirty="0"/>
              <a:t>System Tools used to make this application</a:t>
            </a:r>
          </a:p>
        </p:txBody>
      </p:sp>
    </p:spTree>
    <p:extLst>
      <p:ext uri="{BB962C8B-B14F-4D97-AF65-F5344CB8AC3E}">
        <p14:creationId xmlns:p14="http://schemas.microsoft.com/office/powerpoint/2010/main" val="2940612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5EAE-DCE2-4792-D942-68E2553F8923}"/>
              </a:ext>
            </a:extLst>
          </p:cNvPr>
          <p:cNvSpPr>
            <a:spLocks noGrp="1"/>
          </p:cNvSpPr>
          <p:nvPr>
            <p:ph type="title"/>
          </p:nvPr>
        </p:nvSpPr>
        <p:spPr>
          <a:xfrm>
            <a:off x="2515150" y="270388"/>
            <a:ext cx="7161699" cy="933081"/>
          </a:xfrm>
        </p:spPr>
        <p:txBody>
          <a:bodyPr/>
          <a:lstStyle/>
          <a:p>
            <a:r>
              <a:rPr lang="en-ZA" dirty="0"/>
              <a:t>Database (EF Core)</a:t>
            </a:r>
          </a:p>
        </p:txBody>
      </p:sp>
      <p:pic>
        <p:nvPicPr>
          <p:cNvPr id="7" name="Content Placeholder 6" descr="A screenshot of a computer program&#10;&#10;AI-generated content may be incorrect.">
            <a:extLst>
              <a:ext uri="{FF2B5EF4-FFF2-40B4-BE49-F238E27FC236}">
                <a16:creationId xmlns:a16="http://schemas.microsoft.com/office/drawing/2014/main" id="{F53E975B-DED0-AD3F-137F-B13A3353B1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815" y="1733558"/>
            <a:ext cx="7534581" cy="4077307"/>
          </a:xfrm>
        </p:spPr>
      </p:pic>
      <p:sp>
        <p:nvSpPr>
          <p:cNvPr id="4" name="Text Placeholder 3">
            <a:extLst>
              <a:ext uri="{FF2B5EF4-FFF2-40B4-BE49-F238E27FC236}">
                <a16:creationId xmlns:a16="http://schemas.microsoft.com/office/drawing/2014/main" id="{D4A08E40-E47E-E295-4980-EFE7AD91F899}"/>
              </a:ext>
            </a:extLst>
          </p:cNvPr>
          <p:cNvSpPr>
            <a:spLocks noGrp="1"/>
          </p:cNvSpPr>
          <p:nvPr>
            <p:ph type="body" sz="half" idx="2"/>
          </p:nvPr>
        </p:nvSpPr>
        <p:spPr>
          <a:xfrm>
            <a:off x="7836312" y="1203469"/>
            <a:ext cx="4114895" cy="4892531"/>
          </a:xfrm>
        </p:spPr>
        <p:txBody>
          <a:bodyPr>
            <a:normAutofit lnSpcReduction="10000"/>
          </a:bodyPr>
          <a:lstStyle/>
          <a:p>
            <a:r>
              <a:rPr lang="en-ZA" dirty="0"/>
              <a:t>This image is part of my </a:t>
            </a:r>
            <a:r>
              <a:rPr lang="en-ZA" dirty="0" err="1"/>
              <a:t>DbContext</a:t>
            </a:r>
            <a:r>
              <a:rPr lang="en-ZA" dirty="0"/>
              <a:t> file which helps to set the properties and interactions of the database as well as seeding data within the User table of the Main database. With this we set what is required in a table and set relationships that we could like with the POE the User and Claim have one-to-many relationship where user will have multiple claims and claims will have only one user.</a:t>
            </a:r>
          </a:p>
        </p:txBody>
      </p:sp>
      <p:sp>
        <p:nvSpPr>
          <p:cNvPr id="5" name="TextBox 4">
            <a:extLst>
              <a:ext uri="{FF2B5EF4-FFF2-40B4-BE49-F238E27FC236}">
                <a16:creationId xmlns:a16="http://schemas.microsoft.com/office/drawing/2014/main" id="{1B81F52E-8B69-C08F-CD55-2CCF375130C7}"/>
              </a:ext>
            </a:extLst>
          </p:cNvPr>
          <p:cNvSpPr txBox="1"/>
          <p:nvPr/>
        </p:nvSpPr>
        <p:spPr>
          <a:xfrm>
            <a:off x="240793" y="1317523"/>
            <a:ext cx="4114897" cy="369332"/>
          </a:xfrm>
          <a:prstGeom prst="rect">
            <a:avLst/>
          </a:prstGeom>
          <a:noFill/>
        </p:spPr>
        <p:txBody>
          <a:bodyPr wrap="square" rtlCol="0">
            <a:spAutoFit/>
          </a:bodyPr>
          <a:lstStyle/>
          <a:p>
            <a:r>
              <a:rPr lang="en-ZA" dirty="0"/>
              <a:t>Database code from my program</a:t>
            </a:r>
          </a:p>
        </p:txBody>
      </p:sp>
    </p:spTree>
    <p:extLst>
      <p:ext uri="{BB962C8B-B14F-4D97-AF65-F5344CB8AC3E}">
        <p14:creationId xmlns:p14="http://schemas.microsoft.com/office/powerpoint/2010/main" val="3736362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78EAD-D264-BB9F-008B-AD233A4FA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5169A-0860-A6E4-BFF1-F2128F94306B}"/>
              </a:ext>
            </a:extLst>
          </p:cNvPr>
          <p:cNvSpPr>
            <a:spLocks noGrp="1"/>
          </p:cNvSpPr>
          <p:nvPr>
            <p:ph type="title"/>
          </p:nvPr>
        </p:nvSpPr>
        <p:spPr>
          <a:xfrm>
            <a:off x="2515150" y="270388"/>
            <a:ext cx="7161699" cy="933081"/>
          </a:xfrm>
        </p:spPr>
        <p:txBody>
          <a:bodyPr/>
          <a:lstStyle/>
          <a:p>
            <a:r>
              <a:rPr lang="en-ZA" dirty="0"/>
              <a:t>Sessions</a:t>
            </a:r>
          </a:p>
        </p:txBody>
      </p:sp>
      <p:pic>
        <p:nvPicPr>
          <p:cNvPr id="7" name="Content Placeholder 6">
            <a:extLst>
              <a:ext uri="{FF2B5EF4-FFF2-40B4-BE49-F238E27FC236}">
                <a16:creationId xmlns:a16="http://schemas.microsoft.com/office/drawing/2014/main" id="{BC4FB4D2-A44D-18CF-397A-64D22B2B1CC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3815" y="1733558"/>
            <a:ext cx="7534581" cy="4077307"/>
          </a:xfrm>
        </p:spPr>
      </p:pic>
      <p:sp>
        <p:nvSpPr>
          <p:cNvPr id="4" name="Text Placeholder 3">
            <a:extLst>
              <a:ext uri="{FF2B5EF4-FFF2-40B4-BE49-F238E27FC236}">
                <a16:creationId xmlns:a16="http://schemas.microsoft.com/office/drawing/2014/main" id="{3DFEEA36-9261-4597-A301-4FCE56090B44}"/>
              </a:ext>
            </a:extLst>
          </p:cNvPr>
          <p:cNvSpPr>
            <a:spLocks noGrp="1"/>
          </p:cNvSpPr>
          <p:nvPr>
            <p:ph type="body" sz="half" idx="2"/>
          </p:nvPr>
        </p:nvSpPr>
        <p:spPr>
          <a:xfrm>
            <a:off x="7836312" y="1869669"/>
            <a:ext cx="4114895" cy="3805084"/>
          </a:xfrm>
        </p:spPr>
        <p:txBody>
          <a:bodyPr>
            <a:normAutofit/>
          </a:bodyPr>
          <a:lstStyle/>
          <a:p>
            <a:r>
              <a:rPr lang="en-ZA" dirty="0"/>
              <a:t>This code section is just a showcase of the use of sessions. This code checks the current session data which is set from the login view to match the user database table to make sure that when a user logs in they are checked in the view whether they are authorized to view this page.</a:t>
            </a:r>
          </a:p>
        </p:txBody>
      </p:sp>
      <p:sp>
        <p:nvSpPr>
          <p:cNvPr id="5" name="TextBox 4">
            <a:extLst>
              <a:ext uri="{FF2B5EF4-FFF2-40B4-BE49-F238E27FC236}">
                <a16:creationId xmlns:a16="http://schemas.microsoft.com/office/drawing/2014/main" id="{7A9C76EC-2775-1976-7876-49813085DF7A}"/>
              </a:ext>
            </a:extLst>
          </p:cNvPr>
          <p:cNvSpPr txBox="1"/>
          <p:nvPr/>
        </p:nvSpPr>
        <p:spPr>
          <a:xfrm>
            <a:off x="240793" y="1317523"/>
            <a:ext cx="4114897" cy="369332"/>
          </a:xfrm>
          <a:prstGeom prst="rect">
            <a:avLst/>
          </a:prstGeom>
          <a:noFill/>
        </p:spPr>
        <p:txBody>
          <a:bodyPr wrap="square" rtlCol="0">
            <a:spAutoFit/>
          </a:bodyPr>
          <a:lstStyle/>
          <a:p>
            <a:r>
              <a:rPr lang="en-ZA" dirty="0"/>
              <a:t>Session code from my program</a:t>
            </a:r>
          </a:p>
        </p:txBody>
      </p:sp>
    </p:spTree>
    <p:extLst>
      <p:ext uri="{BB962C8B-B14F-4D97-AF65-F5344CB8AC3E}">
        <p14:creationId xmlns:p14="http://schemas.microsoft.com/office/powerpoint/2010/main" val="2108484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FD38B-A610-C78D-4F29-642150923007}"/>
              </a:ext>
            </a:extLst>
          </p:cNvPr>
          <p:cNvSpPr>
            <a:spLocks noGrp="1"/>
          </p:cNvSpPr>
          <p:nvPr>
            <p:ph type="title"/>
          </p:nvPr>
        </p:nvSpPr>
        <p:spPr>
          <a:xfrm>
            <a:off x="701098" y="277941"/>
            <a:ext cx="10789803" cy="2551751"/>
          </a:xfrm>
        </p:spPr>
        <p:txBody>
          <a:bodyPr>
            <a:normAutofit/>
          </a:bodyPr>
          <a:lstStyle/>
          <a:p>
            <a:r>
              <a:rPr lang="en-ZA" dirty="0"/>
              <a:t>How about a video demonstration of the application</a:t>
            </a:r>
          </a:p>
        </p:txBody>
      </p:sp>
      <p:sp>
        <p:nvSpPr>
          <p:cNvPr id="4" name="Text Placeholder 3">
            <a:extLst>
              <a:ext uri="{FF2B5EF4-FFF2-40B4-BE49-F238E27FC236}">
                <a16:creationId xmlns:a16="http://schemas.microsoft.com/office/drawing/2014/main" id="{9A82F79E-053F-F57D-7074-F580734FE698}"/>
              </a:ext>
            </a:extLst>
          </p:cNvPr>
          <p:cNvSpPr>
            <a:spLocks noGrp="1"/>
          </p:cNvSpPr>
          <p:nvPr>
            <p:ph type="body" sz="half" idx="2"/>
          </p:nvPr>
        </p:nvSpPr>
        <p:spPr>
          <a:xfrm>
            <a:off x="814812" y="3223803"/>
            <a:ext cx="10889392" cy="2872197"/>
          </a:xfrm>
        </p:spPr>
        <p:txBody>
          <a:bodyPr>
            <a:normAutofit/>
          </a:bodyPr>
          <a:lstStyle/>
          <a:p>
            <a:r>
              <a:rPr lang="en-ZA" dirty="0"/>
              <a:t>Let’s move from this slideshow explanation to my video explanation that </a:t>
            </a:r>
            <a:r>
              <a:rPr lang="en-ZA"/>
              <a:t>is available </a:t>
            </a:r>
            <a:r>
              <a:rPr lang="en-ZA" dirty="0"/>
              <a:t>with this YouTube Link:</a:t>
            </a:r>
          </a:p>
          <a:p>
            <a:r>
              <a:rPr lang="en-ZA" dirty="0">
                <a:hlinkClick r:id="rId2"/>
              </a:rPr>
              <a:t>https://youtu.be/2eQNJYsmzCc</a:t>
            </a:r>
            <a:endParaRPr lang="en-ZA" dirty="0"/>
          </a:p>
        </p:txBody>
      </p:sp>
    </p:spTree>
    <p:extLst>
      <p:ext uri="{BB962C8B-B14F-4D97-AF65-F5344CB8AC3E}">
        <p14:creationId xmlns:p14="http://schemas.microsoft.com/office/powerpoint/2010/main" val="2749146300"/>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Metadata/LabelInfo.xml><?xml version="1.0" encoding="utf-8"?>
<clbl:labelList xmlns:clbl="http://schemas.microsoft.com/office/2020/mipLabelMetadata">
  <clbl:label id="{e10c8f44-f469-448f-bc0d-d781288ff01b}" enabled="0" method="" siteId="{e10c8f44-f469-448f-bc0d-d781288ff01b}" removed="1"/>
</clbl:labelList>
</file>

<file path=docProps/app.xml><?xml version="1.0" encoding="utf-8"?>
<Properties xmlns="http://schemas.openxmlformats.org/officeDocument/2006/extended-properties" xmlns:vt="http://schemas.openxmlformats.org/officeDocument/2006/docPropsVTypes">
  <TotalTime>396</TotalTime>
  <Words>800</Words>
  <Application>Microsoft Office PowerPoint</Application>
  <PresentationFormat>Widescreen</PresentationFormat>
  <Paragraphs>42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Meiryo</vt:lpstr>
      <vt:lpstr>Arial</vt:lpstr>
      <vt:lpstr>Corbel</vt:lpstr>
      <vt:lpstr>SketchLinesVTI</vt:lpstr>
      <vt:lpstr>Programming 2B Portfolio of Evidence</vt:lpstr>
      <vt:lpstr>The main Purpose of this POE</vt:lpstr>
      <vt:lpstr>The Application and it’s Purpose</vt:lpstr>
      <vt:lpstr>The Login View</vt:lpstr>
      <vt:lpstr>The Lecturer’s View</vt:lpstr>
      <vt:lpstr>Coordinator’s View</vt:lpstr>
      <vt:lpstr>Manager’s View</vt:lpstr>
      <vt:lpstr>The HR’s View</vt:lpstr>
      <vt:lpstr>Feedback Changes</vt:lpstr>
      <vt:lpstr>System Tools used to make this application</vt:lpstr>
      <vt:lpstr>Database (EF Core)</vt:lpstr>
      <vt:lpstr>Sessions</vt:lpstr>
      <vt:lpstr>How about a video demonstration of the application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Liam Dylon Swile</dc:creator>
  <cp:lastModifiedBy>Liam Dylon Swile</cp:lastModifiedBy>
  <cp:revision>3</cp:revision>
  <dcterms:created xsi:type="dcterms:W3CDTF">2025-11-21T07:08:06Z</dcterms:created>
  <dcterms:modified xsi:type="dcterms:W3CDTF">2025-11-21T18:46:18Z</dcterms:modified>
</cp:coreProperties>
</file>